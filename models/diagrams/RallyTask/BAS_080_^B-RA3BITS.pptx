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 id="2147483653" r:id="rId2"/>
    <p:sldMasterId id="2147483680" r:id="rId3"/>
  </p:sldMasterIdLst>
  <p:notesMasterIdLst>
    <p:notesMasterId r:id="rId9"/>
  </p:notesMasterIdLst>
  <p:handoutMasterIdLst>
    <p:handoutMasterId r:id="rId10"/>
  </p:handoutMasterIdLst>
  <p:sldIdLst>
    <p:sldId id="273" r:id="rId4"/>
    <p:sldId id="259" r:id="rId5"/>
    <p:sldId id="260" r:id="rId6"/>
    <p:sldId id="277" r:id="rId7"/>
    <p:sldId id="278" r:id="rId8"/>
  </p:sldIdLst>
  <p:sldSz cx="15119350" cy="10691813"/>
  <p:notesSz cx="14597063" cy="21107400"/>
  <p:defaultTextStyle>
    <a:defPPr>
      <a:defRPr lang="ja-JP"/>
    </a:defPPr>
    <a:lvl1pPr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1pPr>
    <a:lvl2pPr marL="52674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2pPr>
    <a:lvl3pPr marL="105348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3pPr>
    <a:lvl4pPr marL="158022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4pPr>
    <a:lvl5pPr marL="210696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5pPr>
    <a:lvl6pPr marL="263370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6pPr>
    <a:lvl7pPr marL="316044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7pPr>
    <a:lvl8pPr marL="368718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8pPr>
    <a:lvl9pPr marL="421392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アブストラクトページ（ベーシッククラス）" id="{05F68B40-4021-4FFA-A734-7816717BBE8C}">
          <p14:sldIdLst>
            <p14:sldId id="273"/>
          </p14:sldIdLst>
        </p14:section>
        <p14:section name="モデル図ページ（ベーシッククラス）" id="{8B2B3982-7BAC-4EE5-974E-E0EE0719EC85}">
          <p14:sldIdLst>
            <p14:sldId id="259"/>
            <p14:sldId id="260"/>
            <p14:sldId id="277"/>
            <p14:sldId id="278"/>
          </p14:sldIdLst>
        </p14:section>
      </p14:sectionLst>
    </p:ext>
    <p:ext uri="{EFAFB233-063F-42B5-8137-9DF3F51BA10A}">
      <p15:sldGuideLst xmlns:p15="http://schemas.microsoft.com/office/powerpoint/2012/main">
        <p15:guide id="1" orient="horz" pos="918" userDrawn="1">
          <p15:clr>
            <a:srgbClr val="A4A3A4"/>
          </p15:clr>
        </p15:guide>
        <p15:guide id="2" pos="4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5B6"/>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633253-F7EE-6722-E4BC-E7385AEF0411}" v="37" dt="2026-08-23T22:59:32.006"/>
    <p1510:client id="{B8540507-246E-4778-89AB-BD717B8856F8}" v="4220" dt="2026-08-24T15:16:24.834"/>
    <p1510:client id="{D29EFEC6-E367-D006-21DD-BA0420765B7F}" v="1018" dt="2026-08-24T15:19:33.901"/>
    <p1510:client id="{D3812EE0-7250-4FBA-37E3-EE126C3AD627}" v="505" dt="2026-08-24T09:10:30.430"/>
    <p1510:client id="{D834C1A3-7E4B-C515-D6F5-A46B06F33842}" v="348" dt="2026-08-24T14:00:29.17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524" y="90"/>
      </p:cViewPr>
      <p:guideLst>
        <p:guide orient="horz" pos="918"/>
        <p:guide pos="476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59DA592-5F88-E54B-954E-C3C136F3960C}"/>
              </a:ext>
            </a:extLst>
          </p:cNvPr>
          <p:cNvSpPr>
            <a:spLocks noGrp="1" noChangeArrowheads="1"/>
          </p:cNvSpPr>
          <p:nvPr>
            <p:ph type="hdr" sz="quarter"/>
          </p:nvPr>
        </p:nvSpPr>
        <p:spPr bwMode="auto">
          <a:xfrm>
            <a:off x="0"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3" name="Rectangle 3">
            <a:extLst>
              <a:ext uri="{FF2B5EF4-FFF2-40B4-BE49-F238E27FC236}">
                <a16:creationId xmlns:a16="http://schemas.microsoft.com/office/drawing/2014/main" id="{BD05C139-080E-2548-AEA9-AF5A6E6E659D}"/>
              </a:ext>
            </a:extLst>
          </p:cNvPr>
          <p:cNvSpPr>
            <a:spLocks noGrp="1" noChangeArrowheads="1"/>
          </p:cNvSpPr>
          <p:nvPr>
            <p:ph type="dt" sz="quarter" idx="1"/>
          </p:nvPr>
        </p:nvSpPr>
        <p:spPr bwMode="auto">
          <a:xfrm>
            <a:off x="8272463"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algn="r" defTabSz="1968500">
              <a:defRPr sz="2600">
                <a:ea typeface="ＭＳ Ｐゴシック" pitchFamily="50" charset="-128"/>
              </a:defRPr>
            </a:lvl1pPr>
          </a:lstStyle>
          <a:p>
            <a:pPr>
              <a:defRPr/>
            </a:pPr>
            <a:endParaRPr lang="en-US" altLang="ja-JP"/>
          </a:p>
        </p:txBody>
      </p:sp>
      <p:sp>
        <p:nvSpPr>
          <p:cNvPr id="5124" name="Rectangle 4">
            <a:extLst>
              <a:ext uri="{FF2B5EF4-FFF2-40B4-BE49-F238E27FC236}">
                <a16:creationId xmlns:a16="http://schemas.microsoft.com/office/drawing/2014/main" id="{D3027D88-FF63-544E-B8F1-CD9CD49FE1BC}"/>
              </a:ext>
            </a:extLst>
          </p:cNvPr>
          <p:cNvSpPr>
            <a:spLocks noGrp="1" noChangeArrowheads="1"/>
          </p:cNvSpPr>
          <p:nvPr>
            <p:ph type="ftr" sz="quarter" idx="2"/>
          </p:nvPr>
        </p:nvSpPr>
        <p:spPr bwMode="auto">
          <a:xfrm>
            <a:off x="0"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5" name="Rectangle 5">
            <a:extLst>
              <a:ext uri="{FF2B5EF4-FFF2-40B4-BE49-F238E27FC236}">
                <a16:creationId xmlns:a16="http://schemas.microsoft.com/office/drawing/2014/main" id="{25E8D4B3-1F5B-9044-B886-14F6FE333E98}"/>
              </a:ext>
            </a:extLst>
          </p:cNvPr>
          <p:cNvSpPr>
            <a:spLocks noGrp="1" noChangeArrowheads="1"/>
          </p:cNvSpPr>
          <p:nvPr>
            <p:ph type="sldNum" sz="quarter" idx="3"/>
          </p:nvPr>
        </p:nvSpPr>
        <p:spPr bwMode="auto">
          <a:xfrm>
            <a:off x="8272463"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algn="r" defTabSz="1968500">
              <a:defRPr sz="2600"/>
            </a:lvl1pPr>
          </a:lstStyle>
          <a:p>
            <a:fld id="{1EFC8496-1004-0F49-ADCE-70E852CADCBA}"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25C1222-AA60-AB4C-BA33-9EB6EC90F970}"/>
              </a:ext>
            </a:extLst>
          </p:cNvPr>
          <p:cNvSpPr>
            <a:spLocks noGrp="1" noChangeArrowheads="1"/>
          </p:cNvSpPr>
          <p:nvPr>
            <p:ph type="hdr" sz="quarter"/>
          </p:nvPr>
        </p:nvSpPr>
        <p:spPr bwMode="auto">
          <a:xfrm>
            <a:off x="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47" name="Rectangle 3">
            <a:extLst>
              <a:ext uri="{FF2B5EF4-FFF2-40B4-BE49-F238E27FC236}">
                <a16:creationId xmlns:a16="http://schemas.microsoft.com/office/drawing/2014/main" id="{5D335703-604D-8840-B55C-E70670A6FC28}"/>
              </a:ext>
            </a:extLst>
          </p:cNvPr>
          <p:cNvSpPr>
            <a:spLocks noGrp="1" noChangeArrowheads="1"/>
          </p:cNvSpPr>
          <p:nvPr>
            <p:ph type="dt" idx="1"/>
          </p:nvPr>
        </p:nvSpPr>
        <p:spPr bwMode="auto">
          <a:xfrm>
            <a:off x="826770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ＭＳ Ｐゴシック" pitchFamily="50" charset="-128"/>
              </a:defRPr>
            </a:lvl1pPr>
          </a:lstStyle>
          <a:p>
            <a:pPr>
              <a:defRPr/>
            </a:pPr>
            <a:endParaRPr lang="en-US" altLang="ja-JP"/>
          </a:p>
        </p:txBody>
      </p:sp>
      <p:sp>
        <p:nvSpPr>
          <p:cNvPr id="4100" name="Rectangle 4">
            <a:extLst>
              <a:ext uri="{FF2B5EF4-FFF2-40B4-BE49-F238E27FC236}">
                <a16:creationId xmlns:a16="http://schemas.microsoft.com/office/drawing/2014/main" id="{8FE3D853-B0C1-1A42-B2E2-6DB951ED3511}"/>
              </a:ext>
            </a:extLst>
          </p:cNvPr>
          <p:cNvSpPr>
            <a:spLocks noGrp="1" noRot="1" noChangeAspect="1" noChangeArrowheads="1" noTextEdit="1"/>
          </p:cNvSpPr>
          <p:nvPr>
            <p:ph type="sldImg" idx="2"/>
          </p:nvPr>
        </p:nvSpPr>
        <p:spPr bwMode="auto">
          <a:xfrm>
            <a:off x="1703388" y="1582738"/>
            <a:ext cx="11191875" cy="791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C885E8F-8EB1-E24A-B86E-C9C053B954D7}"/>
              </a:ext>
            </a:extLst>
          </p:cNvPr>
          <p:cNvSpPr>
            <a:spLocks noGrp="1" noChangeArrowheads="1"/>
          </p:cNvSpPr>
          <p:nvPr>
            <p:ph type="body" sz="quarter" idx="3"/>
          </p:nvPr>
        </p:nvSpPr>
        <p:spPr bwMode="auto">
          <a:xfrm>
            <a:off x="1460500" y="10026650"/>
            <a:ext cx="11677650" cy="9498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150" name="Rectangle 6">
            <a:extLst>
              <a:ext uri="{FF2B5EF4-FFF2-40B4-BE49-F238E27FC236}">
                <a16:creationId xmlns:a16="http://schemas.microsoft.com/office/drawing/2014/main" id="{68145291-64F3-C949-83D1-094C2285CB0B}"/>
              </a:ext>
            </a:extLst>
          </p:cNvPr>
          <p:cNvSpPr>
            <a:spLocks noGrp="1" noChangeArrowheads="1"/>
          </p:cNvSpPr>
          <p:nvPr>
            <p:ph type="ftr" sz="quarter" idx="4"/>
          </p:nvPr>
        </p:nvSpPr>
        <p:spPr bwMode="auto">
          <a:xfrm>
            <a:off x="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51" name="Rectangle 7">
            <a:extLst>
              <a:ext uri="{FF2B5EF4-FFF2-40B4-BE49-F238E27FC236}">
                <a16:creationId xmlns:a16="http://schemas.microsoft.com/office/drawing/2014/main" id="{8E39246C-E20F-E04F-A03D-FD095DC1D539}"/>
              </a:ext>
            </a:extLst>
          </p:cNvPr>
          <p:cNvSpPr>
            <a:spLocks noGrp="1" noChangeArrowheads="1"/>
          </p:cNvSpPr>
          <p:nvPr>
            <p:ph type="sldNum" sz="quarter" idx="5"/>
          </p:nvPr>
        </p:nvSpPr>
        <p:spPr bwMode="auto">
          <a:xfrm>
            <a:off x="826770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DB0DEA4-E0F6-FD42-B43D-9FF702984A75}"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1pPr>
    <a:lvl2pPr marL="52674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2pPr>
    <a:lvl3pPr marL="105348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3pPr>
    <a:lvl4pPr marL="158022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4pPr>
    <a:lvl5pPr marL="210696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5pPr>
    <a:lvl6pPr marL="2633701" algn="l" defTabSz="1053480" rtl="0" eaLnBrk="1" latinLnBrk="0" hangingPunct="1">
      <a:defRPr kumimoji="1" sz="1383" kern="1200">
        <a:solidFill>
          <a:schemeClr val="tx1"/>
        </a:solidFill>
        <a:latin typeface="+mn-lt"/>
        <a:ea typeface="+mn-ea"/>
        <a:cs typeface="+mn-cs"/>
      </a:defRPr>
    </a:lvl6pPr>
    <a:lvl7pPr marL="3160441" algn="l" defTabSz="1053480" rtl="0" eaLnBrk="1" latinLnBrk="0" hangingPunct="1">
      <a:defRPr kumimoji="1" sz="1383" kern="1200">
        <a:solidFill>
          <a:schemeClr val="tx1"/>
        </a:solidFill>
        <a:latin typeface="+mn-lt"/>
        <a:ea typeface="+mn-ea"/>
        <a:cs typeface="+mn-cs"/>
      </a:defRPr>
    </a:lvl7pPr>
    <a:lvl8pPr marL="3687181" algn="l" defTabSz="1053480" rtl="0" eaLnBrk="1" latinLnBrk="0" hangingPunct="1">
      <a:defRPr kumimoji="1" sz="1383" kern="1200">
        <a:solidFill>
          <a:schemeClr val="tx1"/>
        </a:solidFill>
        <a:latin typeface="+mn-lt"/>
        <a:ea typeface="+mn-ea"/>
        <a:cs typeface="+mn-cs"/>
      </a:defRPr>
    </a:lvl8pPr>
    <a:lvl9pPr marL="4213921" algn="l" defTabSz="1053480" rtl="0" eaLnBrk="1" latinLnBrk="0" hangingPunct="1">
      <a:defRPr kumimoji="1" sz="13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etrobo.jp/teamlist/"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eaLnBrk="1" hangingPunct="1"/>
            <a:r>
              <a:rPr lang="en-US" altLang="ja-JP" sz="1400">
                <a:solidFill>
                  <a:srgbClr val="0070C0"/>
                </a:solidFill>
              </a:rPr>
              <a:t>XXXXX</a:t>
            </a:r>
            <a:r>
              <a:rPr lang="ja-JP" altLang="en-US" sz="1400">
                <a:solidFill>
                  <a:srgbClr val="0070C0"/>
                </a:solidFill>
              </a:rPr>
              <a:t>には</a:t>
            </a:r>
            <a:r>
              <a:rPr lang="en-US" altLang="ja-JP" sz="1400">
                <a:solidFill>
                  <a:srgbClr val="0070C0"/>
                </a:solidFill>
              </a:rPr>
              <a:t>ET</a:t>
            </a:r>
            <a:r>
              <a:rPr lang="ja-JP" altLang="en-US" sz="1400">
                <a:solidFill>
                  <a:srgbClr val="0070C0"/>
                </a:solidFill>
              </a:rPr>
              <a:t>ロボコン公式</a:t>
            </a:r>
            <a:r>
              <a:rPr lang="en-US" altLang="ja-JP" sz="1400">
                <a:solidFill>
                  <a:srgbClr val="0070C0"/>
                </a:solidFill>
              </a:rPr>
              <a:t>HP</a:t>
            </a:r>
            <a:r>
              <a:rPr lang="ja-JP" altLang="en-US" sz="1400">
                <a:solidFill>
                  <a:srgbClr val="0070C0"/>
                </a:solidFill>
              </a:rPr>
              <a:t>に掲載されている参加チーム一覧表の該当項目を記載</a:t>
            </a:r>
            <a:endParaRPr lang="en-US" altLang="ja-JP" sz="1400">
              <a:solidFill>
                <a:srgbClr val="0070C0"/>
              </a:solidFill>
            </a:endParaRPr>
          </a:p>
          <a:p>
            <a:pPr eaLnBrk="1" hangingPunct="1"/>
            <a:r>
              <a:rPr lang="en-US" altLang="ja-JP" sz="1400">
                <a:solidFill>
                  <a:srgbClr val="0070C0"/>
                </a:solidFill>
              </a:rPr>
              <a:t>(</a:t>
            </a:r>
            <a:r>
              <a:rPr lang="en-US" altLang="ja-JP" sz="1400">
                <a:solidFill>
                  <a:srgbClr val="0070C0"/>
                </a:solidFill>
                <a:hlinkClick r:id="rId3"/>
              </a:rPr>
              <a:t>https://www.etrobo.jp/teamlist/</a:t>
            </a:r>
            <a:r>
              <a:rPr lang="en-US" altLang="ja-JP" sz="1400">
                <a:solidFill>
                  <a:srgbClr val="0070C0"/>
                </a:solidFill>
              </a:rPr>
              <a:t>)</a:t>
            </a:r>
            <a:endParaRPr lang="ja-JP" altLang="en-US" sz="1400">
              <a:solidFill>
                <a:srgbClr val="0070C0"/>
              </a:solidFill>
            </a:endParaRPr>
          </a:p>
          <a:p>
            <a:endParaRPr kumimoji="1" lang="en-US" altLang="ja-JP"/>
          </a:p>
          <a:p>
            <a:pPr marL="0" indent="0" eaLnBrk="1" hangingPunct="1">
              <a:lnSpc>
                <a:spcPct val="80000"/>
              </a:lnSpc>
              <a:spcBef>
                <a:spcPts val="668"/>
              </a:spcBef>
              <a:buFont typeface="Arial" panose="020B0604020202020204" pitchFamily="34" charset="0"/>
              <a:buNone/>
            </a:pPr>
            <a:r>
              <a:rPr lang="ja-JP" altLang="en-US" sz="1400">
                <a:latin typeface="HG丸ｺﾞｼｯｸM-PRO" panose="020F0600000000000000" pitchFamily="50" charset="-128"/>
                <a:ea typeface="HG丸ｺﾞｼｯｸM-PRO" panose="020F0600000000000000" pitchFamily="50" charset="-128"/>
              </a:rPr>
              <a:t>（文字サイズは</a:t>
            </a:r>
            <a:r>
              <a:rPr lang="en-US" altLang="ja-JP" sz="1400">
                <a:latin typeface="HG丸ｺﾞｼｯｸM-PRO" panose="020F0600000000000000" pitchFamily="50" charset="-128"/>
                <a:ea typeface="HG丸ｺﾞｼｯｸM-PRO" panose="020F0600000000000000" pitchFamily="50" charset="-128"/>
              </a:rPr>
              <a:t>16</a:t>
            </a:r>
            <a:r>
              <a:rPr lang="ja-JP" altLang="en-US" sz="1400">
                <a:latin typeface="HG丸ｺﾞｼｯｸM-PRO" panose="020F0600000000000000" pitchFamily="50" charset="-128"/>
                <a:ea typeface="HG丸ｺﾞｼｯｸM-PRO" panose="020F0600000000000000" pitchFamily="50" charset="-128"/>
              </a:rPr>
              <a:t>ポイント以上、全角で</a:t>
            </a:r>
            <a:r>
              <a:rPr lang="en-US" altLang="ja-JP" sz="1400">
                <a:latin typeface="HG丸ｺﾞｼｯｸM-PRO" panose="020F0600000000000000" pitchFamily="50" charset="-128"/>
                <a:ea typeface="HG丸ｺﾞｼｯｸM-PRO" panose="020F0600000000000000" pitchFamily="50" charset="-128"/>
              </a:rPr>
              <a:t>300</a:t>
            </a:r>
            <a:r>
              <a:rPr lang="ja-JP" altLang="en-US" sz="1400">
                <a:latin typeface="HG丸ｺﾞｼｯｸM-PRO" panose="020F0600000000000000" pitchFamily="50" charset="-128"/>
                <a:ea typeface="HG丸ｺﾞｼｯｸM-PRO" panose="020F0600000000000000" pitchFamily="50" charset="-128"/>
              </a:rPr>
              <a:t>文字程度）</a:t>
            </a:r>
          </a:p>
          <a:p>
            <a:endParaRPr kumimoji="1" lang="ja-JP" altLang="en-US"/>
          </a:p>
        </p:txBody>
      </p:sp>
      <p:sp>
        <p:nvSpPr>
          <p:cNvPr id="4" name="スライド番号プレースホルダー 3"/>
          <p:cNvSpPr>
            <a:spLocks noGrp="1"/>
          </p:cNvSpPr>
          <p:nvPr>
            <p:ph type="sldNum" sz="quarter" idx="5"/>
          </p:nvPr>
        </p:nvSpPr>
        <p:spPr/>
        <p:txBody>
          <a:bodyPr/>
          <a:lstStyle/>
          <a:p>
            <a:fld id="{0DB0DEA4-E0F6-FD42-B43D-9FF702984A75}" type="slidenum">
              <a:rPr lang="en-US" altLang="ja-JP" smtClean="0"/>
              <a:pPr/>
              <a:t>1</a:t>
            </a:fld>
            <a:endParaRPr lang="en-US" altLang="ja-JP"/>
          </a:p>
        </p:txBody>
      </p:sp>
    </p:spTree>
    <p:extLst>
      <p:ext uri="{BB962C8B-B14F-4D97-AF65-F5344CB8AC3E}">
        <p14:creationId xmlns:p14="http://schemas.microsoft.com/office/powerpoint/2010/main" val="2530055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DB0DEA4-E0F6-FD42-B43D-9FF702984A75}" type="slidenum">
              <a:rPr lang="en-US" altLang="ja-JP" smtClean="0"/>
              <a:pPr/>
              <a:t>2</a:t>
            </a:fld>
            <a:endParaRPr lang="en-US" altLang="ja-JP"/>
          </a:p>
        </p:txBody>
      </p:sp>
    </p:spTree>
    <p:extLst>
      <p:ext uri="{BB962C8B-B14F-4D97-AF65-F5344CB8AC3E}">
        <p14:creationId xmlns:p14="http://schemas.microsoft.com/office/powerpoint/2010/main" val="400898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ソフトウェアアーキテクチャ　</a:t>
            </a:r>
            <a:r>
              <a:rPr kumimoji="1" lang="en-US" altLang="ja-JP"/>
              <a:t>4</a:t>
            </a:r>
            <a:r>
              <a:rPr kumimoji="1" lang="ja-JP" altLang="en-US"/>
              <a:t>層構造</a:t>
            </a:r>
            <a:endParaRPr kumimoji="1" lang="en-US" altLang="ja-JP"/>
          </a:p>
          <a:p>
            <a:r>
              <a:rPr kumimoji="1" lang="en-US" altLang="ja-JP" sz="1350">
                <a:latin typeface="Times New Roman"/>
                <a:ea typeface="ＭＳ Ｐ明朝"/>
                <a:cs typeface="Times New Roman"/>
              </a:rPr>
              <a:t>Application</a:t>
            </a:r>
            <a:r>
              <a:rPr kumimoji="1" lang="ja-JP" altLang="en-US" sz="1350">
                <a:latin typeface="Times New Roman"/>
                <a:ea typeface="ＭＳ Ｐ明朝"/>
                <a:cs typeface="Times New Roman"/>
              </a:rPr>
              <a:t>層</a:t>
            </a:r>
            <a:r>
              <a:rPr kumimoji="1" lang="en-US" altLang="ja-JP" sz="1350">
                <a:latin typeface="Times New Roman"/>
                <a:ea typeface="ＭＳ Ｐ明朝"/>
                <a:cs typeface="Times New Roman"/>
              </a:rPr>
              <a:t>,</a:t>
            </a:r>
            <a:r>
              <a:rPr kumimoji="1" lang="ja-JP" altLang="en-US" sz="1350">
                <a:latin typeface="Times New Roman"/>
                <a:ea typeface="ＭＳ Ｐ明朝"/>
                <a:cs typeface="Times New Roman"/>
              </a:rPr>
              <a:t> </a:t>
            </a:r>
            <a:r>
              <a:rPr kumimoji="1" lang="en-US" altLang="ja-JP" sz="1350">
                <a:latin typeface="Times New Roman"/>
                <a:ea typeface="ＭＳ Ｐ明朝"/>
                <a:cs typeface="Times New Roman"/>
              </a:rPr>
              <a:t>Scenario</a:t>
            </a:r>
            <a:r>
              <a:rPr kumimoji="1" lang="ja-JP" altLang="en-US" sz="1350">
                <a:latin typeface="Times New Roman"/>
                <a:ea typeface="ＭＳ Ｐ明朝"/>
                <a:cs typeface="Times New Roman"/>
              </a:rPr>
              <a:t>層</a:t>
            </a:r>
            <a:r>
              <a:rPr kumimoji="1" lang="en-US" altLang="ja-JP" sz="1350">
                <a:latin typeface="Times New Roman"/>
                <a:ea typeface="ＭＳ Ｐ明朝"/>
                <a:cs typeface="Times New Roman"/>
              </a:rPr>
              <a:t>,</a:t>
            </a:r>
            <a:r>
              <a:rPr kumimoji="1" lang="ja-JP" altLang="en-US" sz="1350">
                <a:latin typeface="Times New Roman"/>
                <a:ea typeface="ＭＳ Ｐ明朝"/>
                <a:cs typeface="Times New Roman"/>
              </a:rPr>
              <a:t> </a:t>
            </a:r>
            <a:r>
              <a:rPr kumimoji="1" lang="en-US" altLang="ja-JP" sz="1350">
                <a:latin typeface="Times New Roman"/>
                <a:ea typeface="ＭＳ Ｐ明朝"/>
                <a:cs typeface="Times New Roman"/>
              </a:rPr>
              <a:t>Motion</a:t>
            </a:r>
            <a:r>
              <a:rPr kumimoji="1" lang="ja-JP" altLang="en-US" sz="1350">
                <a:latin typeface="Times New Roman"/>
                <a:ea typeface="ＭＳ Ｐ明朝"/>
                <a:cs typeface="Times New Roman"/>
              </a:rPr>
              <a:t>層</a:t>
            </a:r>
            <a:r>
              <a:rPr kumimoji="1" lang="en-US" altLang="ja-JP" sz="1350">
                <a:latin typeface="Times New Roman"/>
                <a:ea typeface="ＭＳ Ｐ明朝"/>
                <a:cs typeface="Times New Roman"/>
              </a:rPr>
              <a:t>, HAL</a:t>
            </a:r>
            <a:r>
              <a:rPr kumimoji="1" lang="ja-JP" altLang="en-US" sz="1350">
                <a:latin typeface="Times New Roman"/>
                <a:ea typeface="ＭＳ Ｐ明朝"/>
                <a:cs typeface="Times New Roman"/>
              </a:rPr>
              <a:t>層を意識</a:t>
            </a:r>
          </a:p>
          <a:p>
            <a:endParaRPr lang="ja-JP" altLang="en-US" sz="1350">
              <a:cs typeface="Times New Roman"/>
            </a:endParaRPr>
          </a:p>
          <a:p>
            <a:r>
              <a:rPr lang="ja-JP" altLang="en-US" sz="1350">
                <a:latin typeface="Times New Roman"/>
                <a:ea typeface="ＭＳ Ｐ明朝"/>
                <a:cs typeface="Times New Roman"/>
              </a:rPr>
              <a:t>3.要求機能のカテゴリー分け</a:t>
            </a:r>
            <a:endParaRPr lang="ja-JP" altLang="en-US" sz="1350">
              <a:cs typeface="Times New Roman"/>
            </a:endParaRPr>
          </a:p>
          <a:p>
            <a:endParaRPr lang="ja-JP" altLang="en-US" sz="1350">
              <a:cs typeface="Times New Roman"/>
            </a:endParaRPr>
          </a:p>
        </p:txBody>
      </p:sp>
      <p:sp>
        <p:nvSpPr>
          <p:cNvPr id="4" name="スライド番号プレースホルダー 3"/>
          <p:cNvSpPr>
            <a:spLocks noGrp="1"/>
          </p:cNvSpPr>
          <p:nvPr>
            <p:ph type="sldNum" sz="quarter" idx="5"/>
          </p:nvPr>
        </p:nvSpPr>
        <p:spPr/>
        <p:txBody>
          <a:bodyPr/>
          <a:lstStyle/>
          <a:p>
            <a:fld id="{0DB0DEA4-E0F6-FD42-B43D-9FF702984A75}" type="slidenum">
              <a:rPr lang="en-US" altLang="ja-JP" smtClean="0"/>
              <a:pPr/>
              <a:t>3</a:t>
            </a:fld>
            <a:endParaRPr lang="en-US" altLang="ja-JP"/>
          </a:p>
        </p:txBody>
      </p:sp>
    </p:spTree>
    <p:extLst>
      <p:ext uri="{BB962C8B-B14F-4D97-AF65-F5344CB8AC3E}">
        <p14:creationId xmlns:p14="http://schemas.microsoft.com/office/powerpoint/2010/main" val="7283287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アブストラクトページ用（ベーシッククラス）">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98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1C593D-50EE-492C-BF62-7061D8451F9F}"/>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771528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2227AF-C1D2-4D5B-BB89-3FC06B4051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C9BB6EF-1BBD-44F7-8105-357758AD351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5177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78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ja-JP" altLang="en-US"/>
              <a:t>マスター タイトルの書式設定</a:t>
            </a:r>
            <a:endParaRPr lang="en-US"/>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31486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89655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ja-JP" altLang="en-US"/>
              <a:t>マスター タイトルの書式設定</a:t>
            </a:r>
            <a:endParaRPr lang="en-US"/>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solidFill>
              </a:defRPr>
            </a:lvl1pPr>
            <a:lvl2pPr marL="712775" indent="0">
              <a:buNone/>
              <a:defRPr sz="3118">
                <a:solidFill>
                  <a:schemeClr val="tx1">
                    <a:tint val="75000"/>
                  </a:schemeClr>
                </a:solidFill>
              </a:defRPr>
            </a:lvl2pPr>
            <a:lvl3pPr marL="1425550" indent="0">
              <a:buNone/>
              <a:defRPr sz="2806">
                <a:solidFill>
                  <a:schemeClr val="tx1">
                    <a:tint val="75000"/>
                  </a:schemeClr>
                </a:solidFill>
              </a:defRPr>
            </a:lvl3pPr>
            <a:lvl4pPr marL="2138324" indent="0">
              <a:buNone/>
              <a:defRPr sz="2494">
                <a:solidFill>
                  <a:schemeClr val="tx1">
                    <a:tint val="75000"/>
                  </a:schemeClr>
                </a:solidFill>
              </a:defRPr>
            </a:lvl4pPr>
            <a:lvl5pPr marL="2851099" indent="0">
              <a:buNone/>
              <a:defRPr sz="2494">
                <a:solidFill>
                  <a:schemeClr val="tx1">
                    <a:tint val="75000"/>
                  </a:schemeClr>
                </a:solidFill>
              </a:defRPr>
            </a:lvl5pPr>
            <a:lvl6pPr marL="3563874" indent="0">
              <a:buNone/>
              <a:defRPr sz="2494">
                <a:solidFill>
                  <a:schemeClr val="tx1">
                    <a:tint val="75000"/>
                  </a:schemeClr>
                </a:solidFill>
              </a:defRPr>
            </a:lvl6pPr>
            <a:lvl7pPr marL="4276649" indent="0">
              <a:buNone/>
              <a:defRPr sz="2494">
                <a:solidFill>
                  <a:schemeClr val="tx1">
                    <a:tint val="75000"/>
                  </a:schemeClr>
                </a:solidFill>
              </a:defRPr>
            </a:lvl7pPr>
            <a:lvl8pPr marL="4989424" indent="0">
              <a:buNone/>
              <a:defRPr sz="2494">
                <a:solidFill>
                  <a:schemeClr val="tx1">
                    <a:tint val="75000"/>
                  </a:schemeClr>
                </a:solidFill>
              </a:defRPr>
            </a:lvl8pPr>
            <a:lvl9pPr marL="5702198" indent="0">
              <a:buNone/>
              <a:defRPr sz="2494">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64629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1039455"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7654171"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6030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4" name="Content Placeholder 3"/>
          <p:cNvSpPr>
            <a:spLocks noGrp="1"/>
          </p:cNvSpPr>
          <p:nvPr>
            <p:ph sz="half" idx="2"/>
          </p:nvPr>
        </p:nvSpPr>
        <p:spPr>
          <a:xfrm>
            <a:off x="1041426" y="3905482"/>
            <a:ext cx="63961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6" name="Content Placeholder 5"/>
          <p:cNvSpPr>
            <a:spLocks noGrp="1"/>
          </p:cNvSpPr>
          <p:nvPr>
            <p:ph sz="quarter" idx="4"/>
          </p:nvPr>
        </p:nvSpPr>
        <p:spPr>
          <a:xfrm>
            <a:off x="7654172" y="3905482"/>
            <a:ext cx="64276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7551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78476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60059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0747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19893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67774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720142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505887"/>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862174" rtl="0" eaLnBrk="1" latinLnBrk="0" hangingPunct="1">
        <a:lnSpc>
          <a:spcPct val="90000"/>
        </a:lnSpc>
        <a:spcBef>
          <a:spcPct val="0"/>
        </a:spcBef>
        <a:buNone/>
        <a:defRPr kumimoji="1" sz="4148" kern="1200">
          <a:solidFill>
            <a:schemeClr val="tx1"/>
          </a:solidFill>
          <a:latin typeface="+mj-lt"/>
          <a:ea typeface="+mj-ea"/>
          <a:cs typeface="+mj-cs"/>
        </a:defRPr>
      </a:lvl1pPr>
    </p:titleStyle>
    <p:bodyStyle>
      <a:lvl1pPr marL="215544" indent="-215544" algn="l" defTabSz="862174" rtl="0" eaLnBrk="1" latinLnBrk="0" hangingPunct="1">
        <a:lnSpc>
          <a:spcPct val="90000"/>
        </a:lnSpc>
        <a:spcBef>
          <a:spcPts val="943"/>
        </a:spcBef>
        <a:buFont typeface="Arial" panose="020B0604020202020204" pitchFamily="34" charset="0"/>
        <a:buChar char="•"/>
        <a:defRPr kumimoji="1" sz="2640" kern="1200">
          <a:solidFill>
            <a:schemeClr val="tx1"/>
          </a:solidFill>
          <a:latin typeface="+mn-lt"/>
          <a:ea typeface="+mn-ea"/>
          <a:cs typeface="+mn-cs"/>
        </a:defRPr>
      </a:lvl1pPr>
      <a:lvl2pPr marL="646631" indent="-215544" algn="l" defTabSz="862174" rtl="0" eaLnBrk="1" latinLnBrk="0" hangingPunct="1">
        <a:lnSpc>
          <a:spcPct val="90000"/>
        </a:lnSpc>
        <a:spcBef>
          <a:spcPts val="471"/>
        </a:spcBef>
        <a:buFont typeface="Arial" panose="020B0604020202020204" pitchFamily="34" charset="0"/>
        <a:buChar char="•"/>
        <a:defRPr kumimoji="1" sz="2263" kern="1200">
          <a:solidFill>
            <a:schemeClr val="tx1"/>
          </a:solidFill>
          <a:latin typeface="+mn-lt"/>
          <a:ea typeface="+mn-ea"/>
          <a:cs typeface="+mn-cs"/>
        </a:defRPr>
      </a:lvl2pPr>
      <a:lvl3pPr marL="1077718" indent="-215544" algn="l" defTabSz="862174" rtl="0" eaLnBrk="1" latinLnBrk="0" hangingPunct="1">
        <a:lnSpc>
          <a:spcPct val="90000"/>
        </a:lnSpc>
        <a:spcBef>
          <a:spcPts val="471"/>
        </a:spcBef>
        <a:buFont typeface="Arial" panose="020B0604020202020204" pitchFamily="34" charset="0"/>
        <a:buChar char="•"/>
        <a:defRPr kumimoji="1" sz="1885" kern="1200">
          <a:solidFill>
            <a:schemeClr val="tx1"/>
          </a:solidFill>
          <a:latin typeface="+mn-lt"/>
          <a:ea typeface="+mn-ea"/>
          <a:cs typeface="+mn-cs"/>
        </a:defRPr>
      </a:lvl3pPr>
      <a:lvl4pPr marL="1508804"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4pPr>
      <a:lvl5pPr marL="1939892"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5pPr>
      <a:lvl6pPr marL="2370979"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6pPr>
      <a:lvl7pPr marL="2802066"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7pPr>
      <a:lvl8pPr marL="3233153"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8pPr>
      <a:lvl9pPr marL="3664241"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9pPr>
    </p:bodyStyle>
    <p:otherStyle>
      <a:defPPr>
        <a:defRPr lang="ja-JP"/>
      </a:defPPr>
      <a:lvl1pPr marL="0" algn="l" defTabSz="862174" rtl="0" eaLnBrk="1" latinLnBrk="0" hangingPunct="1">
        <a:defRPr kumimoji="1" sz="1697" kern="1200">
          <a:solidFill>
            <a:schemeClr val="tx1"/>
          </a:solidFill>
          <a:latin typeface="+mn-lt"/>
          <a:ea typeface="+mn-ea"/>
          <a:cs typeface="+mn-cs"/>
        </a:defRPr>
      </a:lvl1pPr>
      <a:lvl2pPr marL="431087" algn="l" defTabSz="862174" rtl="0" eaLnBrk="1" latinLnBrk="0" hangingPunct="1">
        <a:defRPr kumimoji="1" sz="1697" kern="1200">
          <a:solidFill>
            <a:schemeClr val="tx1"/>
          </a:solidFill>
          <a:latin typeface="+mn-lt"/>
          <a:ea typeface="+mn-ea"/>
          <a:cs typeface="+mn-cs"/>
        </a:defRPr>
      </a:lvl2pPr>
      <a:lvl3pPr marL="862174" algn="l" defTabSz="862174" rtl="0" eaLnBrk="1" latinLnBrk="0" hangingPunct="1">
        <a:defRPr kumimoji="1" sz="1697" kern="1200">
          <a:solidFill>
            <a:schemeClr val="tx1"/>
          </a:solidFill>
          <a:latin typeface="+mn-lt"/>
          <a:ea typeface="+mn-ea"/>
          <a:cs typeface="+mn-cs"/>
        </a:defRPr>
      </a:lvl3pPr>
      <a:lvl4pPr marL="1293262" algn="l" defTabSz="862174" rtl="0" eaLnBrk="1" latinLnBrk="0" hangingPunct="1">
        <a:defRPr kumimoji="1" sz="1697" kern="1200">
          <a:solidFill>
            <a:schemeClr val="tx1"/>
          </a:solidFill>
          <a:latin typeface="+mn-lt"/>
          <a:ea typeface="+mn-ea"/>
          <a:cs typeface="+mn-cs"/>
        </a:defRPr>
      </a:lvl4pPr>
      <a:lvl5pPr marL="1724348" algn="l" defTabSz="862174" rtl="0" eaLnBrk="1" latinLnBrk="0" hangingPunct="1">
        <a:defRPr kumimoji="1" sz="1697" kern="1200">
          <a:solidFill>
            <a:schemeClr val="tx1"/>
          </a:solidFill>
          <a:latin typeface="+mn-lt"/>
          <a:ea typeface="+mn-ea"/>
          <a:cs typeface="+mn-cs"/>
        </a:defRPr>
      </a:lvl5pPr>
      <a:lvl6pPr marL="2155435" algn="l" defTabSz="862174" rtl="0" eaLnBrk="1" latinLnBrk="0" hangingPunct="1">
        <a:defRPr kumimoji="1" sz="1697" kern="1200">
          <a:solidFill>
            <a:schemeClr val="tx1"/>
          </a:solidFill>
          <a:latin typeface="+mn-lt"/>
          <a:ea typeface="+mn-ea"/>
          <a:cs typeface="+mn-cs"/>
        </a:defRPr>
      </a:lvl6pPr>
      <a:lvl7pPr marL="2586522" algn="l" defTabSz="862174" rtl="0" eaLnBrk="1" latinLnBrk="0" hangingPunct="1">
        <a:defRPr kumimoji="1" sz="1697" kern="1200">
          <a:solidFill>
            <a:schemeClr val="tx1"/>
          </a:solidFill>
          <a:latin typeface="+mn-lt"/>
          <a:ea typeface="+mn-ea"/>
          <a:cs typeface="+mn-cs"/>
        </a:defRPr>
      </a:lvl7pPr>
      <a:lvl8pPr marL="3017610" algn="l" defTabSz="862174" rtl="0" eaLnBrk="1" latinLnBrk="0" hangingPunct="1">
        <a:defRPr kumimoji="1" sz="1697" kern="1200">
          <a:solidFill>
            <a:schemeClr val="tx1"/>
          </a:solidFill>
          <a:latin typeface="+mn-lt"/>
          <a:ea typeface="+mn-ea"/>
          <a:cs typeface="+mn-cs"/>
        </a:defRPr>
      </a:lvl8pPr>
      <a:lvl9pPr marL="3448697" algn="l" defTabSz="862174" rtl="0" eaLnBrk="1" latinLnBrk="0" hangingPunct="1">
        <a:defRPr kumimoji="1" sz="169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D3455A-94BB-4384-9D81-3373DDA6E786}"/>
              </a:ext>
            </a:extLst>
          </p:cNvPr>
          <p:cNvSpPr>
            <a:spLocks noGrp="1"/>
          </p:cNvSpPr>
          <p:nvPr>
            <p:ph type="title"/>
          </p:nvPr>
        </p:nvSpPr>
        <p:spPr>
          <a:xfrm>
            <a:off x="1038706" y="569241"/>
            <a:ext cx="13041939" cy="927667"/>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AD97918-B164-4912-9485-26849240275E}"/>
              </a:ext>
            </a:extLst>
          </p:cNvPr>
          <p:cNvSpPr>
            <a:spLocks noGrp="1"/>
          </p:cNvSpPr>
          <p:nvPr>
            <p:ph type="body" idx="1"/>
          </p:nvPr>
        </p:nvSpPr>
        <p:spPr>
          <a:xfrm>
            <a:off x="1038706" y="1416720"/>
            <a:ext cx="13041939" cy="898099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99147502"/>
      </p:ext>
    </p:extLst>
  </p:cSld>
  <p:clrMap bg1="lt1" tx1="dk1" bg2="lt2" tx2="dk2" accent1="accent1" accent2="accent2" accent3="accent3" accent4="accent4" accent5="accent5" accent6="accent6" hlink="hlink" folHlink="folHlink"/>
  <p:sldLayoutIdLst>
    <p:sldLayoutId id="2147483659" r:id="rId1"/>
    <p:sldLayoutId id="2147483655" r:id="rId2"/>
    <p:sldLayoutId id="2147483660" r:id="rId3"/>
  </p:sldLayoutIdLst>
  <p:txStyles>
    <p:titleStyle>
      <a:lvl1pPr algn="l" defTabSz="1018276" rtl="0" eaLnBrk="1" latinLnBrk="0" hangingPunct="1">
        <a:lnSpc>
          <a:spcPct val="90000"/>
        </a:lnSpc>
        <a:spcBef>
          <a:spcPct val="0"/>
        </a:spcBef>
        <a:buNone/>
        <a:defRPr kumimoji="1" sz="4900" kern="1200">
          <a:solidFill>
            <a:schemeClr val="tx1"/>
          </a:solidFill>
          <a:latin typeface="+mj-lt"/>
          <a:ea typeface="+mj-ea"/>
          <a:cs typeface="+mj-cs"/>
        </a:defRPr>
      </a:lvl1pPr>
    </p:titleStyle>
    <p:bodyStyle>
      <a:lvl1pPr marL="254569" indent="-254569" algn="l" defTabSz="1018276" rtl="0" eaLnBrk="1" latinLnBrk="0" hangingPunct="1">
        <a:lnSpc>
          <a:spcPct val="90000"/>
        </a:lnSpc>
        <a:spcBef>
          <a:spcPts val="1114"/>
        </a:spcBef>
        <a:buFont typeface="Arial" panose="020B0604020202020204" pitchFamily="34" charset="0"/>
        <a:buChar char="•"/>
        <a:defRPr kumimoji="1" sz="3118" kern="1200">
          <a:solidFill>
            <a:schemeClr val="tx1"/>
          </a:solidFill>
          <a:latin typeface="+mn-lt"/>
          <a:ea typeface="+mn-ea"/>
          <a:cs typeface="+mn-cs"/>
        </a:defRPr>
      </a:lvl1pPr>
      <a:lvl2pPr marL="763707" indent="-254569" algn="l" defTabSz="1018276" rtl="0" eaLnBrk="1" latinLnBrk="0" hangingPunct="1">
        <a:lnSpc>
          <a:spcPct val="90000"/>
        </a:lnSpc>
        <a:spcBef>
          <a:spcPts val="557"/>
        </a:spcBef>
        <a:buFont typeface="Arial" panose="020B0604020202020204" pitchFamily="34" charset="0"/>
        <a:buChar char="•"/>
        <a:defRPr kumimoji="1" sz="2673" kern="1200">
          <a:solidFill>
            <a:schemeClr val="tx1"/>
          </a:solidFill>
          <a:latin typeface="+mn-lt"/>
          <a:ea typeface="+mn-ea"/>
          <a:cs typeface="+mn-cs"/>
        </a:defRPr>
      </a:lvl2pPr>
      <a:lvl3pPr marL="1272845" indent="-254569" algn="l" defTabSz="1018276" rtl="0" eaLnBrk="1" latinLnBrk="0" hangingPunct="1">
        <a:lnSpc>
          <a:spcPct val="90000"/>
        </a:lnSpc>
        <a:spcBef>
          <a:spcPts val="557"/>
        </a:spcBef>
        <a:buFont typeface="Arial" panose="020B0604020202020204" pitchFamily="34" charset="0"/>
        <a:buChar char="•"/>
        <a:defRPr kumimoji="1" sz="2227" kern="1200">
          <a:solidFill>
            <a:schemeClr val="tx1"/>
          </a:solidFill>
          <a:latin typeface="+mn-lt"/>
          <a:ea typeface="+mn-ea"/>
          <a:cs typeface="+mn-cs"/>
        </a:defRPr>
      </a:lvl3pPr>
      <a:lvl4pPr marL="1781983"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4pPr>
      <a:lvl5pPr marL="2291121"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5pPr>
      <a:lvl6pPr marL="2800259"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6pPr>
      <a:lvl7pPr marL="3309396"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7pPr>
      <a:lvl8pPr marL="3818534"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8pPr>
      <a:lvl9pPr marL="4327672"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9pPr>
    </p:bodyStyle>
    <p:otherStyle>
      <a:defPPr>
        <a:defRPr lang="ja-JP"/>
      </a:defPPr>
      <a:lvl1pPr marL="0" algn="l" defTabSz="1018276" rtl="0" eaLnBrk="1" latinLnBrk="0" hangingPunct="1">
        <a:defRPr kumimoji="1" sz="2004" kern="1200">
          <a:solidFill>
            <a:schemeClr val="tx1"/>
          </a:solidFill>
          <a:latin typeface="+mn-lt"/>
          <a:ea typeface="+mn-ea"/>
          <a:cs typeface="+mn-cs"/>
        </a:defRPr>
      </a:lvl1pPr>
      <a:lvl2pPr marL="509138" algn="l" defTabSz="1018276" rtl="0" eaLnBrk="1" latinLnBrk="0" hangingPunct="1">
        <a:defRPr kumimoji="1" sz="2004" kern="1200">
          <a:solidFill>
            <a:schemeClr val="tx1"/>
          </a:solidFill>
          <a:latin typeface="+mn-lt"/>
          <a:ea typeface="+mn-ea"/>
          <a:cs typeface="+mn-cs"/>
        </a:defRPr>
      </a:lvl2pPr>
      <a:lvl3pPr marL="1018276" algn="l" defTabSz="1018276" rtl="0" eaLnBrk="1" latinLnBrk="0" hangingPunct="1">
        <a:defRPr kumimoji="1" sz="2004" kern="1200">
          <a:solidFill>
            <a:schemeClr val="tx1"/>
          </a:solidFill>
          <a:latin typeface="+mn-lt"/>
          <a:ea typeface="+mn-ea"/>
          <a:cs typeface="+mn-cs"/>
        </a:defRPr>
      </a:lvl3pPr>
      <a:lvl4pPr marL="1527414" algn="l" defTabSz="1018276" rtl="0" eaLnBrk="1" latinLnBrk="0" hangingPunct="1">
        <a:defRPr kumimoji="1" sz="2004" kern="1200">
          <a:solidFill>
            <a:schemeClr val="tx1"/>
          </a:solidFill>
          <a:latin typeface="+mn-lt"/>
          <a:ea typeface="+mn-ea"/>
          <a:cs typeface="+mn-cs"/>
        </a:defRPr>
      </a:lvl4pPr>
      <a:lvl5pPr marL="2036552" algn="l" defTabSz="1018276" rtl="0" eaLnBrk="1" latinLnBrk="0" hangingPunct="1">
        <a:defRPr kumimoji="1" sz="2004" kern="1200">
          <a:solidFill>
            <a:schemeClr val="tx1"/>
          </a:solidFill>
          <a:latin typeface="+mn-lt"/>
          <a:ea typeface="+mn-ea"/>
          <a:cs typeface="+mn-cs"/>
        </a:defRPr>
      </a:lvl5pPr>
      <a:lvl6pPr marL="2545690" algn="l" defTabSz="1018276" rtl="0" eaLnBrk="1" latinLnBrk="0" hangingPunct="1">
        <a:defRPr kumimoji="1" sz="2004" kern="1200">
          <a:solidFill>
            <a:schemeClr val="tx1"/>
          </a:solidFill>
          <a:latin typeface="+mn-lt"/>
          <a:ea typeface="+mn-ea"/>
          <a:cs typeface="+mn-cs"/>
        </a:defRPr>
      </a:lvl6pPr>
      <a:lvl7pPr marL="3054828" algn="l" defTabSz="1018276" rtl="0" eaLnBrk="1" latinLnBrk="0" hangingPunct="1">
        <a:defRPr kumimoji="1" sz="2004" kern="1200">
          <a:solidFill>
            <a:schemeClr val="tx1"/>
          </a:solidFill>
          <a:latin typeface="+mn-lt"/>
          <a:ea typeface="+mn-ea"/>
          <a:cs typeface="+mn-cs"/>
        </a:defRPr>
      </a:lvl7pPr>
      <a:lvl8pPr marL="3563965" algn="l" defTabSz="1018276" rtl="0" eaLnBrk="1" latinLnBrk="0" hangingPunct="1">
        <a:defRPr kumimoji="1" sz="2004" kern="1200">
          <a:solidFill>
            <a:schemeClr val="tx1"/>
          </a:solidFill>
          <a:latin typeface="+mn-lt"/>
          <a:ea typeface="+mn-ea"/>
          <a:cs typeface="+mn-cs"/>
        </a:defRPr>
      </a:lvl8pPr>
      <a:lvl9pPr marL="4073103" algn="l" defTabSz="1018276" rtl="0" eaLnBrk="1" latinLnBrk="0" hangingPunct="1">
        <a:defRPr kumimoji="1" sz="200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75000"/>
                  </a:schemeClr>
                </a:solidFill>
              </a:defRPr>
            </a:lvl1pPr>
          </a:lstStyle>
          <a:p>
            <a:fld id="{C764DE79-268F-4C1A-8933-263129D2AF90}" type="datetimeFigureOut">
              <a:rPr lang="en-US" dirty="0"/>
              <a:t>8/25/2026</a:t>
            </a:fld>
            <a:endParaRPr lang="en-US"/>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20665756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1425550" rtl="0" eaLnBrk="1" latinLnBrk="0" hangingPunct="1">
        <a:lnSpc>
          <a:spcPct val="90000"/>
        </a:lnSpc>
        <a:spcBef>
          <a:spcPct val="0"/>
        </a:spcBef>
        <a:buNone/>
        <a:defRPr kumimoji="1"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kumimoji="1"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kumimoji="1"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kumimoji="1"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9pPr>
    </p:bodyStyle>
    <p:otherStyle>
      <a:defPPr>
        <a:defRPr lang="en-US"/>
      </a:defPPr>
      <a:lvl1pPr marL="0" algn="l" defTabSz="1425550" rtl="0" eaLnBrk="1" latinLnBrk="0" hangingPunct="1">
        <a:defRPr kumimoji="1" sz="2806" kern="1200">
          <a:solidFill>
            <a:schemeClr val="tx1"/>
          </a:solidFill>
          <a:latin typeface="+mn-lt"/>
          <a:ea typeface="+mn-ea"/>
          <a:cs typeface="+mn-cs"/>
        </a:defRPr>
      </a:lvl1pPr>
      <a:lvl2pPr marL="712775" algn="l" defTabSz="1425550" rtl="0" eaLnBrk="1" latinLnBrk="0" hangingPunct="1">
        <a:defRPr kumimoji="1" sz="2806" kern="1200">
          <a:solidFill>
            <a:schemeClr val="tx1"/>
          </a:solidFill>
          <a:latin typeface="+mn-lt"/>
          <a:ea typeface="+mn-ea"/>
          <a:cs typeface="+mn-cs"/>
        </a:defRPr>
      </a:lvl2pPr>
      <a:lvl3pPr marL="1425550" algn="l" defTabSz="1425550" rtl="0" eaLnBrk="1" latinLnBrk="0" hangingPunct="1">
        <a:defRPr kumimoji="1" sz="2806" kern="1200">
          <a:solidFill>
            <a:schemeClr val="tx1"/>
          </a:solidFill>
          <a:latin typeface="+mn-lt"/>
          <a:ea typeface="+mn-ea"/>
          <a:cs typeface="+mn-cs"/>
        </a:defRPr>
      </a:lvl3pPr>
      <a:lvl4pPr marL="2138324" algn="l" defTabSz="1425550" rtl="0" eaLnBrk="1" latinLnBrk="0" hangingPunct="1">
        <a:defRPr kumimoji="1" sz="2806" kern="1200">
          <a:solidFill>
            <a:schemeClr val="tx1"/>
          </a:solidFill>
          <a:latin typeface="+mn-lt"/>
          <a:ea typeface="+mn-ea"/>
          <a:cs typeface="+mn-cs"/>
        </a:defRPr>
      </a:lvl4pPr>
      <a:lvl5pPr marL="2851099" algn="l" defTabSz="1425550" rtl="0" eaLnBrk="1" latinLnBrk="0" hangingPunct="1">
        <a:defRPr kumimoji="1" sz="2806" kern="1200">
          <a:solidFill>
            <a:schemeClr val="tx1"/>
          </a:solidFill>
          <a:latin typeface="+mn-lt"/>
          <a:ea typeface="+mn-ea"/>
          <a:cs typeface="+mn-cs"/>
        </a:defRPr>
      </a:lvl5pPr>
      <a:lvl6pPr marL="3563874" algn="l" defTabSz="1425550" rtl="0" eaLnBrk="1" latinLnBrk="0" hangingPunct="1">
        <a:defRPr kumimoji="1" sz="2806" kern="1200">
          <a:solidFill>
            <a:schemeClr val="tx1"/>
          </a:solidFill>
          <a:latin typeface="+mn-lt"/>
          <a:ea typeface="+mn-ea"/>
          <a:cs typeface="+mn-cs"/>
        </a:defRPr>
      </a:lvl6pPr>
      <a:lvl7pPr marL="4276649" algn="l" defTabSz="1425550" rtl="0" eaLnBrk="1" latinLnBrk="0" hangingPunct="1">
        <a:defRPr kumimoji="1" sz="2806" kern="1200">
          <a:solidFill>
            <a:schemeClr val="tx1"/>
          </a:solidFill>
          <a:latin typeface="+mn-lt"/>
          <a:ea typeface="+mn-ea"/>
          <a:cs typeface="+mn-cs"/>
        </a:defRPr>
      </a:lvl7pPr>
      <a:lvl8pPr marL="4989424" algn="l" defTabSz="1425550" rtl="0" eaLnBrk="1" latinLnBrk="0" hangingPunct="1">
        <a:defRPr kumimoji="1" sz="2806" kern="1200">
          <a:solidFill>
            <a:schemeClr val="tx1"/>
          </a:solidFill>
          <a:latin typeface="+mn-lt"/>
          <a:ea typeface="+mn-ea"/>
          <a:cs typeface="+mn-cs"/>
        </a:defRPr>
      </a:lvl8pPr>
      <a:lvl9pPr marL="5702198" algn="l" defTabSz="1425550" rtl="0" eaLnBrk="1" latinLnBrk="0" hangingPunct="1">
        <a:defRPr kumimoji="1"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emf"/><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image" Target="../media/image4.emf"/><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13.emf"/><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svg"/><Relationship Id="rId1" Type="http://schemas.openxmlformats.org/officeDocument/2006/relationships/slideLayout" Target="../slideLayouts/slideLayout6.xm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7">
            <a:extLst>
              <a:ext uri="{FF2B5EF4-FFF2-40B4-BE49-F238E27FC236}">
                <a16:creationId xmlns:a16="http://schemas.microsoft.com/office/drawing/2014/main" id="{4C5521D0-6D4E-9F47-9798-8C12AB809BDC}"/>
              </a:ext>
            </a:extLst>
          </p:cNvPr>
          <p:cNvSpPr>
            <a:spLocks noChangeArrowheads="1"/>
          </p:cNvSpPr>
          <p:nvPr/>
        </p:nvSpPr>
        <p:spPr bwMode="auto">
          <a:xfrm>
            <a:off x="7991723" y="374282"/>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en-US" sz="2400">
                <a:latin typeface="ＭＳ Ｐゴシック" panose="020B0600070205080204" pitchFamily="34" charset="-128"/>
              </a:rPr>
              <a:t>東京北関東</a:t>
            </a:r>
          </a:p>
        </p:txBody>
      </p:sp>
      <p:sp>
        <p:nvSpPr>
          <p:cNvPr id="7" name="Rectangle 4">
            <a:extLst>
              <a:ext uri="{FF2B5EF4-FFF2-40B4-BE49-F238E27FC236}">
                <a16:creationId xmlns:a16="http://schemas.microsoft.com/office/drawing/2014/main" id="{4DCE695B-C0E7-7944-89B8-D691FAEA74EE}"/>
              </a:ext>
            </a:extLst>
          </p:cNvPr>
          <p:cNvSpPr>
            <a:spLocks noChangeArrowheads="1"/>
          </p:cNvSpPr>
          <p:nvPr/>
        </p:nvSpPr>
        <p:spPr bwMode="auto">
          <a:xfrm>
            <a:off x="7559674" y="2048052"/>
            <a:ext cx="7344815" cy="8349665"/>
          </a:xfrm>
          <a:prstGeom prst="rect">
            <a:avLst/>
          </a:prstGeom>
          <a:noFill/>
          <a:ln w="76200">
            <a:solidFill>
              <a:schemeClr val="accent5">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nchor="t"/>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marL="480695" indent="-480695" eaLnBrk="1" hangingPunct="1">
              <a:lnSpc>
                <a:spcPct val="80000"/>
              </a:lnSpc>
              <a:spcBef>
                <a:spcPct val="20000"/>
              </a:spcBef>
            </a:pPr>
            <a:r>
              <a:rPr lang="ja-JP" altLang="en-US" sz="2400" b="1">
                <a:solidFill>
                  <a:schemeClr val="accent5">
                    <a:lumMod val="75000"/>
                  </a:schemeClr>
                </a:solidFill>
              </a:rPr>
              <a:t>モデルの構成</a:t>
            </a:r>
            <a:endParaRPr lang="en-US" altLang="ja-JP" sz="2400" b="1">
              <a:solidFill>
                <a:schemeClr val="accent5">
                  <a:lumMod val="75000"/>
                </a:schemeClr>
              </a:solidFill>
              <a:cs typeface="Times New Roman" panose="02020603050405020304" pitchFamily="18" charset="0"/>
            </a:endParaRPr>
          </a:p>
          <a:p>
            <a:pPr marL="381635" indent="-381635" defTabSz="1018276" eaLnBrk="1" hangingPunct="1">
              <a:spcBef>
                <a:spcPts val="668"/>
              </a:spcBef>
              <a:buFont typeface="+mj-lt"/>
              <a:buAutoNum type="arabicPeriod"/>
            </a:pPr>
            <a:r>
              <a:rPr lang="ja-JP" altLang="en-US" sz="1800">
                <a:solidFill>
                  <a:prstClr val="black"/>
                </a:solidFill>
                <a:latin typeface="+mn-ea"/>
                <a:ea typeface="+mn-ea"/>
              </a:rPr>
              <a:t>機能モデル　　</a:t>
            </a:r>
            <a:endParaRPr lang="en-US" altLang="ja-JP" sz="1800">
              <a:solidFill>
                <a:prstClr val="black"/>
              </a:solidFill>
              <a:latin typeface="+mn-ea"/>
              <a:ea typeface="+mn-ea"/>
            </a:endParaRPr>
          </a:p>
          <a:p>
            <a:pPr marL="0" indent="0" defTabSz="1018276" eaLnBrk="1" hangingPunct="1">
              <a:spcBef>
                <a:spcPts val="668"/>
              </a:spcBef>
            </a:pPr>
            <a:r>
              <a:rPr lang="ja-JP" altLang="en-US" sz="1800">
                <a:solidFill>
                  <a:prstClr val="black"/>
                </a:solidFill>
                <a:latin typeface="+mn-ea"/>
                <a:ea typeface="+mn-ea"/>
              </a:rPr>
              <a:t>基本戦略を</a:t>
            </a:r>
            <a:r>
              <a:rPr lang="en-US" altLang="ja-JP" sz="1800">
                <a:solidFill>
                  <a:prstClr val="black"/>
                </a:solidFill>
                <a:latin typeface="+mn-ea"/>
                <a:ea typeface="+mn-ea"/>
              </a:rPr>
              <a:t>4</a:t>
            </a:r>
            <a:r>
              <a:rPr lang="ja-JP" altLang="en-US" sz="1800">
                <a:solidFill>
                  <a:prstClr val="black"/>
                </a:solidFill>
                <a:latin typeface="+mn-ea"/>
                <a:ea typeface="+mn-ea"/>
              </a:rPr>
              <a:t>つのシーンに分類した。ゲート通過時はライントレースや色判定などを用いないため、直進や旋回の正確性を担保する必要がある。そのため、ユースケース図では、必要な機能の洗い出しと正確な走行実現におけるリスク分析と緩和策を模索した。</a:t>
            </a:r>
            <a:endParaRPr lang="en-US" altLang="ja-JP" sz="1800">
              <a:solidFill>
                <a:prstClr val="black"/>
              </a:solidFill>
              <a:latin typeface="+mn-ea"/>
              <a:ea typeface="+mn-ea"/>
            </a:endParaRPr>
          </a:p>
          <a:p>
            <a:pPr marL="381635" indent="-381635" defTabSz="1018276" eaLnBrk="1" hangingPunct="1">
              <a:spcBef>
                <a:spcPts val="668"/>
              </a:spcBef>
              <a:buFont typeface="+mj-lt"/>
              <a:buAutoNum type="arabicPeriod" startAt="2"/>
            </a:pPr>
            <a:r>
              <a:rPr lang="ja-JP" altLang="en-US" sz="1800">
                <a:solidFill>
                  <a:prstClr val="black"/>
                </a:solidFill>
                <a:latin typeface="+mn-ea"/>
                <a:ea typeface="+mn-ea"/>
              </a:rPr>
              <a:t>構造モデル</a:t>
            </a:r>
            <a:endParaRPr lang="en-US" altLang="ja-JP" sz="1800">
              <a:solidFill>
                <a:prstClr val="black"/>
              </a:solidFill>
              <a:latin typeface="+mn-ea"/>
              <a:ea typeface="+mn-ea"/>
            </a:endParaRPr>
          </a:p>
          <a:p>
            <a:pPr marL="0" indent="0" defTabSz="1018276">
              <a:spcBef>
                <a:spcPts val="668"/>
              </a:spcBef>
            </a:pPr>
            <a:r>
              <a:rPr lang="ja-JP" altLang="en-US" sz="1800">
                <a:solidFill>
                  <a:prstClr val="black"/>
                </a:solidFill>
                <a:latin typeface="+mn-ea"/>
                <a:ea typeface="+mn-ea"/>
              </a:rPr>
              <a:t>機能モデルで分析した要求機能のパッケージ構造化及びクラス構造化を行うことでETラリーの攻略におけるそれぞれの抽象度での機能間の関係や役割の明確化を図った。走行体制御クラスにデバイスの直接操作を委託するなどクラス間で指示と実行を明確にし責務の分離を図った。</a:t>
            </a:r>
          </a:p>
          <a:p>
            <a:pPr marL="0" indent="0" defTabSz="1018276" eaLnBrk="1" hangingPunct="1">
              <a:spcBef>
                <a:spcPts val="668"/>
              </a:spcBef>
            </a:pPr>
            <a:r>
              <a:rPr lang="en-US" altLang="ja-JP" sz="1800">
                <a:solidFill>
                  <a:prstClr val="black"/>
                </a:solidFill>
                <a:latin typeface="+mn-ea"/>
                <a:ea typeface="+mn-ea"/>
              </a:rPr>
              <a:t>3. </a:t>
            </a:r>
            <a:r>
              <a:rPr lang="ja-JP" altLang="en-US" sz="1800">
                <a:solidFill>
                  <a:prstClr val="black"/>
                </a:solidFill>
                <a:latin typeface="+mn-ea"/>
                <a:ea typeface="+mn-ea"/>
              </a:rPr>
              <a:t>振舞いモデル</a:t>
            </a:r>
          </a:p>
          <a:p>
            <a:pPr marL="0" indent="0" defTabSz="1018276">
              <a:spcBef>
                <a:spcPts val="668"/>
              </a:spcBef>
            </a:pPr>
            <a:r>
              <a:rPr lang="ja-JP" sz="1800">
                <a:solidFill>
                  <a:prstClr val="black"/>
                </a:solidFill>
                <a:latin typeface="+mn-ea"/>
                <a:ea typeface="+mn-ea"/>
                <a:cs typeface="Times New Roman"/>
              </a:rPr>
              <a:t>4つのシーンそれぞれの振舞いを表現するために、シーケンス図を用いた。シーケンス図を用いることで、処理の流れを時系列に沿って示し、オブジェクト間の相互作用を理解しやすくなるようにした。またシーケンス図に記載するオブジェクトは、構造モデルおよび実装したプログラムを参考にして選定した。その際、構造モデルとの対応関係も意識し、各オブジェクトの関係性が一貫するように作成した。</a:t>
            </a:r>
            <a:endParaRPr lang="ja-JP" sz="1800">
              <a:latin typeface="+mn-ea"/>
              <a:ea typeface="+mn-ea"/>
            </a:endParaRPr>
          </a:p>
          <a:p>
            <a:pPr marL="0" indent="0" defTabSz="1018276">
              <a:spcBef>
                <a:spcPts val="668"/>
              </a:spcBef>
            </a:pPr>
            <a:endParaRPr lang="ja-JP" altLang="en-US" sz="1750">
              <a:solidFill>
                <a:prstClr val="black"/>
              </a:solidFill>
              <a:latin typeface="ＭＳ Ｐゴシック" panose="020B0600070205080204" pitchFamily="50" charset="-128"/>
              <a:ea typeface="ＭＳ Ｐゴシック" panose="020B0600070205080204" pitchFamily="50" charset="-128"/>
            </a:endParaRPr>
          </a:p>
        </p:txBody>
      </p:sp>
      <p:sp>
        <p:nvSpPr>
          <p:cNvPr id="18" name="Rectangle 3">
            <a:extLst>
              <a:ext uri="{FF2B5EF4-FFF2-40B4-BE49-F238E27FC236}">
                <a16:creationId xmlns:a16="http://schemas.microsoft.com/office/drawing/2014/main" id="{C94F9FC9-983D-6341-84E1-6185BB35C52E}"/>
              </a:ext>
            </a:extLst>
          </p:cNvPr>
          <p:cNvSpPr>
            <a:spLocks noChangeArrowheads="1"/>
          </p:cNvSpPr>
          <p:nvPr/>
        </p:nvSpPr>
        <p:spPr bwMode="auto">
          <a:xfrm>
            <a:off x="214860" y="6282010"/>
            <a:ext cx="7104254" cy="4115707"/>
          </a:xfrm>
          <a:prstGeom prst="rect">
            <a:avLst/>
          </a:prstGeom>
          <a:noFill/>
          <a:ln w="76200">
            <a:solidFill>
              <a:schemeClr val="accent5">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marL="0" indent="0" defTabSz="862174" eaLnBrk="1" hangingPunct="1">
              <a:spcBef>
                <a:spcPct val="20000"/>
              </a:spcBef>
            </a:pPr>
            <a:r>
              <a:rPr lang="ja-JP" altLang="en-US" sz="2400" b="1">
                <a:solidFill>
                  <a:schemeClr val="accent5">
                    <a:lumMod val="75000"/>
                  </a:schemeClr>
                </a:solidFill>
              </a:rPr>
              <a:t>モデルの概要</a:t>
            </a:r>
          </a:p>
          <a:p>
            <a:pPr marL="0" indent="0" eaLnBrk="1" hangingPunct="1">
              <a:spcBef>
                <a:spcPts val="668"/>
              </a:spcBef>
            </a:pPr>
            <a:r>
              <a:rPr lang="ja-JP" altLang="en-US" sz="2000">
                <a:solidFill>
                  <a:schemeClr val="accent5">
                    <a:lumMod val="75000"/>
                  </a:schemeClr>
                </a:solidFill>
                <a:latin typeface="ＭＳ ゴシック" panose="020B0609070205080204" pitchFamily="49" charset="-128"/>
                <a:ea typeface="ＭＳ ゴシック" panose="020B0609070205080204" pitchFamily="49" charset="-128"/>
              </a:rPr>
              <a:t>選択課題　</a:t>
            </a:r>
            <a:endParaRPr lang="en-US" altLang="ja-JP" sz="2000">
              <a:solidFill>
                <a:schemeClr val="accent5">
                  <a:lumMod val="75000"/>
                </a:schemeClr>
              </a:solidFill>
              <a:latin typeface="ＭＳ ゴシック" panose="020B0609070205080204" pitchFamily="49" charset="-128"/>
              <a:ea typeface="ＭＳ ゴシック" panose="020B0609070205080204" pitchFamily="49" charset="-128"/>
            </a:endParaRPr>
          </a:p>
          <a:p>
            <a:pPr marL="0" indent="0" eaLnBrk="1" hangingPunct="1">
              <a:spcBef>
                <a:spcPts val="668"/>
              </a:spcBef>
            </a:pPr>
            <a:r>
              <a:rPr lang="en-US" altLang="ja-JP" sz="1800">
                <a:latin typeface="+mn-ea"/>
                <a:ea typeface="+mn-ea"/>
              </a:rPr>
              <a:t>ET</a:t>
            </a:r>
            <a:r>
              <a:rPr lang="ja-JP" altLang="en-US" sz="1800">
                <a:latin typeface="+mn-ea"/>
                <a:ea typeface="+mn-ea"/>
              </a:rPr>
              <a:t>ラリー</a:t>
            </a:r>
          </a:p>
          <a:p>
            <a:pPr marL="0" indent="0" eaLnBrk="1" hangingPunct="1">
              <a:spcBef>
                <a:spcPts val="668"/>
              </a:spcBef>
            </a:pPr>
            <a:r>
              <a:rPr lang="ja-JP" altLang="en-US" sz="2000">
                <a:solidFill>
                  <a:schemeClr val="accent5">
                    <a:lumMod val="75000"/>
                  </a:schemeClr>
                </a:solidFill>
                <a:latin typeface="ＭＳ ゴシック" panose="020B0609070205080204" pitchFamily="49" charset="-128"/>
                <a:ea typeface="ＭＳ ゴシック" panose="020B0609070205080204" pitchFamily="49" charset="-128"/>
              </a:rPr>
              <a:t>走行目標　</a:t>
            </a:r>
            <a:endParaRPr lang="en-US" altLang="ja-JP" sz="2000">
              <a:solidFill>
                <a:schemeClr val="accent5">
                  <a:lumMod val="75000"/>
                </a:schemeClr>
              </a:solidFill>
              <a:latin typeface="ＭＳ ゴシック" panose="020B0609070205080204" pitchFamily="49" charset="-128"/>
              <a:ea typeface="ＭＳ ゴシック" panose="020B0609070205080204" pitchFamily="49" charset="-128"/>
            </a:endParaRPr>
          </a:p>
          <a:p>
            <a:pPr marL="0" indent="0" eaLnBrk="1" hangingPunct="1">
              <a:spcBef>
                <a:spcPts val="668"/>
              </a:spcBef>
            </a:pPr>
            <a:r>
              <a:rPr lang="ja-JP" altLang="en-US" sz="1800">
                <a:latin typeface="+mn-ea"/>
                <a:ea typeface="+mn-ea"/>
              </a:rPr>
              <a:t>正確にゲートを周回して</a:t>
            </a:r>
            <a:r>
              <a:rPr lang="en-US" altLang="ja-JP" sz="1800">
                <a:latin typeface="+mn-ea"/>
                <a:ea typeface="+mn-ea"/>
              </a:rPr>
              <a:t>ET</a:t>
            </a:r>
            <a:r>
              <a:rPr lang="ja-JP" altLang="en-US" sz="1800">
                <a:latin typeface="+mn-ea"/>
                <a:ea typeface="+mn-ea"/>
              </a:rPr>
              <a:t>ラリー攻略</a:t>
            </a:r>
            <a:endParaRPr lang="en-US" altLang="ja-JP" sz="1800">
              <a:latin typeface="+mn-ea"/>
              <a:ea typeface="+mn-ea"/>
            </a:endParaRPr>
          </a:p>
          <a:p>
            <a:pPr marL="0" indent="0" eaLnBrk="1" hangingPunct="1">
              <a:spcBef>
                <a:spcPts val="668"/>
              </a:spcBef>
            </a:pPr>
            <a:r>
              <a:rPr lang="ja-JP" altLang="en-US" sz="2000">
                <a:solidFill>
                  <a:schemeClr val="accent5">
                    <a:lumMod val="75000"/>
                  </a:schemeClr>
                </a:solidFill>
                <a:latin typeface="ＭＳ ゴシック" panose="020B0609070205080204" pitchFamily="49" charset="-128"/>
                <a:ea typeface="ＭＳ ゴシック" panose="020B0609070205080204" pitchFamily="49" charset="-128"/>
              </a:rPr>
              <a:t>概要</a:t>
            </a:r>
            <a:endParaRPr lang="en-US" altLang="ja-JP" sz="2000">
              <a:solidFill>
                <a:schemeClr val="accent5">
                  <a:lumMod val="75000"/>
                </a:schemeClr>
              </a:solidFill>
              <a:latin typeface="ＭＳ ゴシック" panose="020B0609070205080204" pitchFamily="49" charset="-128"/>
              <a:ea typeface="ＭＳ ゴシック" panose="020B0609070205080204" pitchFamily="49" charset="-128"/>
            </a:endParaRPr>
          </a:p>
          <a:p>
            <a:pPr marL="0" indent="0" eaLnBrk="1" hangingPunct="1">
              <a:spcBef>
                <a:spcPts val="668"/>
              </a:spcBef>
            </a:pPr>
            <a:r>
              <a:rPr lang="en-US" altLang="ja-JP" sz="1800">
                <a:latin typeface="+mn-ea"/>
                <a:ea typeface="+mn-ea"/>
              </a:rPr>
              <a:t>ET</a:t>
            </a:r>
            <a:r>
              <a:rPr lang="ja-JP" altLang="en-US" sz="1800">
                <a:latin typeface="+mn-ea"/>
                <a:ea typeface="+mn-ea"/>
              </a:rPr>
              <a:t>ラリー攻略のためにいくつかのシーンに分割した。ゲート通過の際、仮想的なグリッドを配置し、それを基にダイクストラ法を用いてルートを算出する。求めたルートに従って走行する。距離と角度を指定してルートを走行するため、正確な動作が課題となる。そのために、</a:t>
            </a:r>
            <a:r>
              <a:rPr lang="en-US" altLang="ja-JP" sz="1800">
                <a:latin typeface="+mn-ea"/>
                <a:ea typeface="+mn-ea"/>
              </a:rPr>
              <a:t>IMU</a:t>
            </a:r>
            <a:r>
              <a:rPr lang="ja-JP" altLang="en-US" sz="1800">
                <a:latin typeface="+mn-ea"/>
                <a:ea typeface="+mn-ea"/>
              </a:rPr>
              <a:t>を用いて基準角を設定することで、目標値と実際の値との誤差を減らす。</a:t>
            </a:r>
            <a:endParaRPr lang="en-US" altLang="ja-JP" sz="1800">
              <a:latin typeface="+mn-ea"/>
              <a:ea typeface="+mn-ea"/>
            </a:endParaRPr>
          </a:p>
          <a:p>
            <a:pPr marL="0" indent="0" eaLnBrk="1" hangingPunct="1">
              <a:lnSpc>
                <a:spcPct val="80000"/>
              </a:lnSpc>
              <a:spcBef>
                <a:spcPts val="668"/>
              </a:spcBef>
            </a:pPr>
            <a:endParaRPr lang="ja-JP" altLang="en-US" sz="1782">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ts val="668"/>
              </a:spcBef>
            </a:pPr>
            <a:endParaRPr lang="ja-JP" altLang="en-US" sz="1782">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ct val="20000"/>
              </a:spcBef>
            </a:pPr>
            <a:endParaRPr lang="en-US" altLang="ja-JP" sz="2004">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ct val="20000"/>
              </a:spcBef>
            </a:pPr>
            <a:endParaRPr lang="en-US" altLang="ja-JP" sz="2004">
              <a:latin typeface="HG丸ｺﾞｼｯｸM-PRO" panose="020F0600000000000000" pitchFamily="50" charset="-128"/>
              <a:ea typeface="HG丸ｺﾞｼｯｸM-PRO" panose="020F0600000000000000" pitchFamily="50" charset="-128"/>
            </a:endParaRPr>
          </a:p>
        </p:txBody>
      </p:sp>
      <p:sp>
        <p:nvSpPr>
          <p:cNvPr id="20" name="Rectangle 17">
            <a:extLst>
              <a:ext uri="{FF2B5EF4-FFF2-40B4-BE49-F238E27FC236}">
                <a16:creationId xmlns:a16="http://schemas.microsoft.com/office/drawing/2014/main" id="{C1472DD0-14C8-01CA-4AAE-6BECD5AF0D4D}"/>
              </a:ext>
            </a:extLst>
          </p:cNvPr>
          <p:cNvSpPr>
            <a:spLocks noChangeArrowheads="1"/>
          </p:cNvSpPr>
          <p:nvPr/>
        </p:nvSpPr>
        <p:spPr bwMode="auto">
          <a:xfrm>
            <a:off x="7475852" y="1383828"/>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ja-JP" b="1">
                <a:latin typeface="+mn-ea"/>
                <a:ea typeface="+mn-ea"/>
              </a:rPr>
              <a:t>群馬大学 情報学部／株式会社トーセーシステムズ</a:t>
            </a:r>
            <a:endParaRPr lang="ja-JP" altLang="en-US" sz="2400" b="1">
              <a:latin typeface="+mn-ea"/>
              <a:ea typeface="+mn-ea"/>
            </a:endParaRPr>
          </a:p>
        </p:txBody>
      </p:sp>
      <p:sp>
        <p:nvSpPr>
          <p:cNvPr id="21" name="Rectangle 17">
            <a:extLst>
              <a:ext uri="{FF2B5EF4-FFF2-40B4-BE49-F238E27FC236}">
                <a16:creationId xmlns:a16="http://schemas.microsoft.com/office/drawing/2014/main" id="{F6161D09-00FF-31B1-120D-6EDB038DCF65}"/>
              </a:ext>
            </a:extLst>
          </p:cNvPr>
          <p:cNvSpPr>
            <a:spLocks noChangeArrowheads="1"/>
          </p:cNvSpPr>
          <p:nvPr/>
        </p:nvSpPr>
        <p:spPr bwMode="auto">
          <a:xfrm>
            <a:off x="7475852" y="850377"/>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ja-JP" b="1">
                <a:latin typeface="+mn-ea"/>
                <a:ea typeface="+mn-ea"/>
              </a:rPr>
              <a:t>群馬県前橋市</a:t>
            </a:r>
            <a:endParaRPr lang="ja-JP" altLang="en-US" sz="2400" b="1">
              <a:latin typeface="+mn-ea"/>
              <a:ea typeface="+mn-ea"/>
            </a:endParaRPr>
          </a:p>
        </p:txBody>
      </p:sp>
      <p:sp>
        <p:nvSpPr>
          <p:cNvPr id="22" name="Rectangle 17">
            <a:extLst>
              <a:ext uri="{FF2B5EF4-FFF2-40B4-BE49-F238E27FC236}">
                <a16:creationId xmlns:a16="http://schemas.microsoft.com/office/drawing/2014/main" id="{46801F28-0D57-20B0-9666-44E8A6E30319}"/>
              </a:ext>
            </a:extLst>
          </p:cNvPr>
          <p:cNvSpPr>
            <a:spLocks noChangeArrowheads="1"/>
          </p:cNvSpPr>
          <p:nvPr/>
        </p:nvSpPr>
        <p:spPr bwMode="auto">
          <a:xfrm>
            <a:off x="619298" y="1326472"/>
            <a:ext cx="1179737"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a:latin typeface="ＭＳ Ｐゴシック" panose="020B0600070205080204" pitchFamily="34" charset="-128"/>
              </a:rPr>
              <a:t>80</a:t>
            </a:r>
            <a:endParaRPr lang="ja-JP" altLang="en-US" sz="2400">
              <a:latin typeface="ＭＳ Ｐゴシック" panose="020B0600070205080204" pitchFamily="34" charset="-128"/>
            </a:endParaRPr>
          </a:p>
        </p:txBody>
      </p:sp>
      <p:sp>
        <p:nvSpPr>
          <p:cNvPr id="23" name="Rectangle 17">
            <a:extLst>
              <a:ext uri="{FF2B5EF4-FFF2-40B4-BE49-F238E27FC236}">
                <a16:creationId xmlns:a16="http://schemas.microsoft.com/office/drawing/2014/main" id="{943C4037-4556-7D81-BB8F-160251C9268A}"/>
              </a:ext>
            </a:extLst>
          </p:cNvPr>
          <p:cNvSpPr>
            <a:spLocks noChangeArrowheads="1"/>
          </p:cNvSpPr>
          <p:nvPr/>
        </p:nvSpPr>
        <p:spPr bwMode="auto">
          <a:xfrm>
            <a:off x="3023171" y="1390267"/>
            <a:ext cx="1296144"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ja-JP" b="1">
                <a:latin typeface="+mn-ea"/>
                <a:ea typeface="+mn-ea"/>
              </a:rPr>
              <a:t>&amp;-RA3BITS</a:t>
            </a:r>
            <a:endParaRPr lang="ja-JP" altLang="en-US" sz="2400" b="1">
              <a:latin typeface="+mn-ea"/>
              <a:ea typeface="+mn-ea"/>
            </a:endParaRPr>
          </a:p>
        </p:txBody>
      </p:sp>
      <p:sp>
        <p:nvSpPr>
          <p:cNvPr id="3" name="テキスト ボックス 2">
            <a:extLst>
              <a:ext uri="{FF2B5EF4-FFF2-40B4-BE49-F238E27FC236}">
                <a16:creationId xmlns:a16="http://schemas.microsoft.com/office/drawing/2014/main" id="{ADC36242-96F7-D089-E101-D02D98825BA6}"/>
              </a:ext>
            </a:extLst>
          </p:cNvPr>
          <p:cNvSpPr txBox="1"/>
          <p:nvPr/>
        </p:nvSpPr>
        <p:spPr>
          <a:xfrm>
            <a:off x="214860" y="2048052"/>
            <a:ext cx="7108769" cy="3970318"/>
          </a:xfrm>
          <a:prstGeom prst="rect">
            <a:avLst/>
          </a:prstGeom>
          <a:noFill/>
          <a:ln w="76200">
            <a:solidFill>
              <a:schemeClr val="accent5">
                <a:lumMod val="75000"/>
              </a:schemeClr>
            </a:solidFill>
          </a:ln>
        </p:spPr>
        <p:txBody>
          <a:bodyPr wrap="square" rtlCol="0">
            <a:spAutoFit/>
          </a:bodyPr>
          <a:lstStyle/>
          <a:p>
            <a:r>
              <a:rPr lang="ja-JP" altLang="en-US" sz="2400" b="1">
                <a:solidFill>
                  <a:schemeClr val="accent5">
                    <a:lumMod val="75000"/>
                  </a:schemeClr>
                </a:solidFill>
              </a:rPr>
              <a:t>チーム紹介</a:t>
            </a:r>
            <a:endParaRPr lang="en-US" altLang="ja-JP" sz="2400" b="1">
              <a:solidFill>
                <a:schemeClr val="accent5">
                  <a:lumMod val="75000"/>
                </a:schemeClr>
              </a:solidFill>
            </a:endParaRPr>
          </a:p>
          <a:p>
            <a:r>
              <a:rPr lang="ja-JP" altLang="en-US" sz="2000">
                <a:latin typeface="ＭＳ ゴシック" panose="020B0609070205080204" pitchFamily="49" charset="-128"/>
                <a:ea typeface="ＭＳ ゴシック" panose="020B0609070205080204" pitchFamily="49" charset="-128"/>
              </a:rPr>
              <a:t>群馬大学情報学部安藤研究室</a:t>
            </a:r>
            <a:r>
              <a:rPr lang="en-US" altLang="ja-JP" sz="2000">
                <a:latin typeface="ＭＳ ゴシック" panose="020B0609070205080204" pitchFamily="49" charset="-128"/>
                <a:ea typeface="ＭＳ ゴシック" panose="020B0609070205080204" pitchFamily="49" charset="-128"/>
              </a:rPr>
              <a:t>4</a:t>
            </a:r>
            <a:r>
              <a:rPr lang="ja-JP" altLang="en-US" sz="2000">
                <a:latin typeface="ＭＳ ゴシック" panose="020B0609070205080204" pitchFamily="49" charset="-128"/>
                <a:ea typeface="ＭＳ ゴシック" panose="020B0609070205080204" pitchFamily="49" charset="-128"/>
              </a:rPr>
              <a:t>年の</a:t>
            </a:r>
            <a:r>
              <a:rPr lang="en-US" altLang="ja-JP" sz="2000">
                <a:latin typeface="ＭＳ ゴシック" panose="020B0609070205080204" pitchFamily="49" charset="-128"/>
                <a:ea typeface="ＭＳ ゴシック" panose="020B0609070205080204" pitchFamily="49" charset="-128"/>
              </a:rPr>
              <a:t>7</a:t>
            </a:r>
            <a:r>
              <a:rPr lang="ja-JP" altLang="en-US" sz="2000">
                <a:latin typeface="ＭＳ ゴシック" panose="020B0609070205080204" pitchFamily="49" charset="-128"/>
                <a:ea typeface="ＭＳ ゴシック" panose="020B0609070205080204" pitchFamily="49" charset="-128"/>
              </a:rPr>
              <a:t>人で構成されたチームです。安藤研究室では毎年</a:t>
            </a:r>
            <a:r>
              <a:rPr lang="en-US" altLang="ja-JP" sz="2000">
                <a:latin typeface="ＭＳ ゴシック" panose="020B0609070205080204" pitchFamily="49" charset="-128"/>
                <a:ea typeface="ＭＳ ゴシック" panose="020B0609070205080204" pitchFamily="49" charset="-128"/>
              </a:rPr>
              <a:t>4</a:t>
            </a:r>
            <a:r>
              <a:rPr lang="ja-JP" altLang="en-US" sz="2000">
                <a:latin typeface="ＭＳ ゴシック" panose="020B0609070205080204" pitchFamily="49" charset="-128"/>
                <a:ea typeface="ＭＳ ゴシック" panose="020B0609070205080204" pitchFamily="49" charset="-128"/>
              </a:rPr>
              <a:t>年生がロボコンに出場しています。チーム名の由来は先輩たちのチーム名を引き継ぎ、今年で</a:t>
            </a:r>
            <a:r>
              <a:rPr lang="en-US" altLang="ja-JP" sz="2000">
                <a:latin typeface="ＭＳ ゴシック" panose="020B0609070205080204" pitchFamily="49" charset="-128"/>
                <a:ea typeface="ＭＳ ゴシック" panose="020B0609070205080204" pitchFamily="49" charset="-128"/>
              </a:rPr>
              <a:t>3</a:t>
            </a:r>
            <a:r>
              <a:rPr lang="ja-JP" altLang="en-US" sz="2000">
                <a:latin typeface="ＭＳ ゴシック" panose="020B0609070205080204" pitchFamily="49" charset="-128"/>
                <a:ea typeface="ＭＳ ゴシック" panose="020B0609070205080204" pitchFamily="49" charset="-128"/>
              </a:rPr>
              <a:t>回目の出場になるため、チーム名に</a:t>
            </a:r>
            <a:r>
              <a:rPr lang="en-US" altLang="ja-JP" sz="2000">
                <a:latin typeface="ＭＳ ゴシック" panose="020B0609070205080204" pitchFamily="49" charset="-128"/>
                <a:ea typeface="ＭＳ ゴシック" panose="020B0609070205080204" pitchFamily="49" charset="-128"/>
              </a:rPr>
              <a:t>3</a:t>
            </a:r>
            <a:r>
              <a:rPr lang="ja-JP" altLang="en-US" sz="2000">
                <a:latin typeface="ＭＳ ゴシック" panose="020B0609070205080204" pitchFamily="49" charset="-128"/>
                <a:ea typeface="ＭＳ ゴシック" panose="020B0609070205080204" pitchFamily="49" charset="-128"/>
              </a:rPr>
              <a:t>を入れました。</a:t>
            </a:r>
            <a:endParaRPr lang="en-US" altLang="ja-JP" sz="2000">
              <a:latin typeface="ＭＳ ゴシック" panose="020B0609070205080204" pitchFamily="49" charset="-128"/>
              <a:ea typeface="ＭＳ ゴシック" panose="020B0609070205080204" pitchFamily="49" charset="-128"/>
            </a:endParaRPr>
          </a:p>
          <a:p>
            <a:endParaRPr lang="en-US" altLang="ja-JP" sz="2000">
              <a:latin typeface="+mn-ea"/>
            </a:endParaRPr>
          </a:p>
          <a:p>
            <a:r>
              <a:rPr lang="ja-JP" altLang="en-US" sz="2400" b="1">
                <a:solidFill>
                  <a:schemeClr val="accent5">
                    <a:lumMod val="75000"/>
                  </a:schemeClr>
                </a:solidFill>
                <a:latin typeface="+mn-ea"/>
              </a:rPr>
              <a:t>目標</a:t>
            </a:r>
          </a:p>
          <a:p>
            <a:r>
              <a:rPr lang="ja-JP" altLang="en-US" sz="2000">
                <a:latin typeface="ＭＳ ゴシック" panose="020B0609070205080204" pitchFamily="49" charset="-128"/>
                <a:ea typeface="ＭＳ ゴシック" panose="020B0609070205080204" pitchFamily="49" charset="-128"/>
              </a:rPr>
              <a:t>エンジニアの仕事をチーム開発とスポンサーとの交流を通じて学ぶ。</a:t>
            </a:r>
            <a:endParaRPr lang="en-US" altLang="ja-JP" sz="2000">
              <a:latin typeface="ＭＳ ゴシック" panose="020B0609070205080204" pitchFamily="49" charset="-128"/>
              <a:ea typeface="ＭＳ ゴシック" panose="020B0609070205080204" pitchFamily="49" charset="-128"/>
            </a:endParaRPr>
          </a:p>
          <a:p>
            <a:endParaRPr lang="en-US" altLang="ja-JP" sz="2000"/>
          </a:p>
          <a:p>
            <a:r>
              <a:rPr lang="ja-JP" altLang="en-US" sz="2400" b="1">
                <a:solidFill>
                  <a:schemeClr val="accent5">
                    <a:lumMod val="75000"/>
                  </a:schemeClr>
                </a:solidFill>
                <a:latin typeface="+mn-ea"/>
              </a:rPr>
              <a:t>意気込み</a:t>
            </a:r>
            <a:endParaRPr lang="en-US" altLang="ja-JP" sz="2400" b="1">
              <a:solidFill>
                <a:schemeClr val="accent5">
                  <a:lumMod val="75000"/>
                </a:schemeClr>
              </a:solidFill>
              <a:latin typeface="+mn-ea"/>
            </a:endParaRPr>
          </a:p>
          <a:p>
            <a:r>
              <a:rPr lang="ja-JP" altLang="en-US" sz="2000">
                <a:latin typeface="+mn-ea"/>
              </a:rPr>
              <a:t>全体の成績で先輩たちを超える。</a:t>
            </a:r>
            <a:endParaRPr lang="en-US" altLang="ja-JP" sz="2000">
              <a:latin typeface="+mn-ea"/>
            </a:endParaRPr>
          </a:p>
        </p:txBody>
      </p:sp>
    </p:spTree>
    <p:extLst>
      <p:ext uri="{BB962C8B-B14F-4D97-AF65-F5344CB8AC3E}">
        <p14:creationId xmlns:p14="http://schemas.microsoft.com/office/powerpoint/2010/main" val="362217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四角形: 角を丸くする 63">
            <a:extLst>
              <a:ext uri="{FF2B5EF4-FFF2-40B4-BE49-F238E27FC236}">
                <a16:creationId xmlns:a16="http://schemas.microsoft.com/office/drawing/2014/main" id="{C41AA30C-0AD1-D026-A33B-2A44979A3FD3}"/>
              </a:ext>
            </a:extLst>
          </p:cNvPr>
          <p:cNvSpPr/>
          <p:nvPr/>
        </p:nvSpPr>
        <p:spPr>
          <a:xfrm>
            <a:off x="2663131" y="201528"/>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構造モデル</a:t>
            </a:r>
          </a:p>
        </p:txBody>
      </p:sp>
      <p:sp>
        <p:nvSpPr>
          <p:cNvPr id="74" name="四角形: 角を丸くする 73">
            <a:extLst>
              <a:ext uri="{FF2B5EF4-FFF2-40B4-BE49-F238E27FC236}">
                <a16:creationId xmlns:a16="http://schemas.microsoft.com/office/drawing/2014/main" id="{BACB38EB-4444-EF4B-615A-BE83AA1A3C62}"/>
              </a:ext>
            </a:extLst>
          </p:cNvPr>
          <p:cNvSpPr/>
          <p:nvPr/>
        </p:nvSpPr>
        <p:spPr>
          <a:xfrm>
            <a:off x="79396" y="185666"/>
            <a:ext cx="2592288" cy="949677"/>
          </a:xfrm>
          <a:prstGeom prst="roundRect">
            <a:avLst/>
          </a:prstGeom>
          <a:solidFill>
            <a:schemeClr val="accent5">
              <a:lumMod val="60000"/>
              <a:lumOff val="4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機能モデル</a:t>
            </a:r>
          </a:p>
        </p:txBody>
      </p:sp>
      <p:sp>
        <p:nvSpPr>
          <p:cNvPr id="2" name="四角形: 角を丸くする 1">
            <a:extLst>
              <a:ext uri="{FF2B5EF4-FFF2-40B4-BE49-F238E27FC236}">
                <a16:creationId xmlns:a16="http://schemas.microsoft.com/office/drawing/2014/main" id="{8F223B6B-DAF2-CC5A-60D9-4F31499746AE}"/>
              </a:ext>
            </a:extLst>
          </p:cNvPr>
          <p:cNvSpPr/>
          <p:nvPr/>
        </p:nvSpPr>
        <p:spPr>
          <a:xfrm>
            <a:off x="15427930" y="4532810"/>
            <a:ext cx="7056784" cy="2304256"/>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500"/>
              </a:lnSpc>
            </a:pPr>
            <a:r>
              <a:rPr lang="en-US" altLang="ja-JP" sz="1050">
                <a:solidFill>
                  <a:schemeClr val="tx1"/>
                </a:solidFill>
                <a:latin typeface="Meiryo UI" panose="020B0604030504040204" pitchFamily="50" charset="-128"/>
                <a:ea typeface="Meiryo UI" panose="020B0604030504040204" pitchFamily="50" charset="-128"/>
              </a:rPr>
              <a:t>【</a:t>
            </a:r>
            <a:r>
              <a:rPr lang="ja-JP" altLang="en-US" sz="1050">
                <a:solidFill>
                  <a:schemeClr val="tx1"/>
                </a:solidFill>
                <a:latin typeface="Meiryo UI" panose="020B0604030504040204" pitchFamily="50" charset="-128"/>
                <a:ea typeface="Meiryo UI" panose="020B0604030504040204" pitchFamily="50" charset="-128"/>
              </a:rPr>
              <a:t>モデル図ページにおける文字サイズ</a:t>
            </a:r>
            <a:r>
              <a:rPr lang="en-US" altLang="ja-JP" sz="1050">
                <a:solidFill>
                  <a:schemeClr val="tx1"/>
                </a:solidFill>
                <a:latin typeface="Meiryo UI" panose="020B0604030504040204" pitchFamily="50" charset="-128"/>
                <a:ea typeface="Meiryo UI" panose="020B0604030504040204" pitchFamily="50" charset="-128"/>
              </a:rPr>
              <a:t>】</a:t>
            </a:r>
          </a:p>
          <a:p>
            <a:pPr>
              <a:lnSpc>
                <a:spcPts val="1500"/>
              </a:lnSpc>
            </a:pPr>
            <a:r>
              <a:rPr lang="ja-JP" altLang="en-US" sz="1050">
                <a:solidFill>
                  <a:schemeClr val="tx1"/>
                </a:solidFill>
                <a:latin typeface="Meiryo UI" panose="020B0604030504040204" pitchFamily="50" charset="-128"/>
                <a:ea typeface="Meiryo UI" panose="020B0604030504040204" pitchFamily="50" charset="-128"/>
              </a:rPr>
              <a:t>審査規約には以下の記載があります：</a:t>
            </a:r>
            <a:endParaRPr lang="en-US" altLang="ja-JP" sz="1050">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a:solidFill>
                  <a:schemeClr val="tx1"/>
                </a:solidFill>
                <a:latin typeface="Meiryo UI" panose="020B0604030504040204" pitchFamily="50" charset="-128"/>
                <a:ea typeface="Meiryo UI" panose="020B0604030504040204" pitchFamily="50" charset="-128"/>
              </a:rPr>
              <a:t>「</a:t>
            </a:r>
            <a:r>
              <a:rPr kumimoji="1" lang="ja-JP" altLang="en-US" sz="1050" b="1">
                <a:solidFill>
                  <a:schemeClr val="tx1"/>
                </a:solidFill>
                <a:latin typeface="Meiryo UI" panose="020B0604030504040204" pitchFamily="50" charset="-128"/>
                <a:ea typeface="Meiryo UI" panose="020B0604030504040204" pitchFamily="50" charset="-128"/>
              </a:rPr>
              <a:t>印刷時に読みにくい文字サイズや画像解像度で記載されているモデルは、減点や表彰対象外になる可能性があります」</a:t>
            </a:r>
            <a:endParaRPr kumimoji="1" lang="en-US" altLang="ja-JP" sz="1050" b="1">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a:solidFill>
                  <a:schemeClr val="tx1"/>
                </a:solidFill>
                <a:latin typeface="Meiryo UI" panose="020B0604030504040204" pitchFamily="50" charset="-128"/>
                <a:ea typeface="Meiryo UI" panose="020B0604030504040204" pitchFamily="50" charset="-128"/>
              </a:rPr>
              <a:t>このテキストボックスは「</a:t>
            </a:r>
            <a:r>
              <a:rPr lang="en-US" altLang="ja-JP" sz="1050" err="1">
                <a:solidFill>
                  <a:schemeClr val="tx1"/>
                </a:solidFill>
                <a:latin typeface="Meiryo UI" panose="020B0604030504040204" pitchFamily="50" charset="-128"/>
                <a:ea typeface="Meiryo UI" panose="020B0604030504040204" pitchFamily="50" charset="-128"/>
              </a:rPr>
              <a:t>Meiryo</a:t>
            </a:r>
            <a:r>
              <a:rPr lang="en-US" altLang="ja-JP" sz="1050">
                <a:solidFill>
                  <a:schemeClr val="tx1"/>
                </a:solidFill>
                <a:latin typeface="Meiryo UI" panose="020B0604030504040204" pitchFamily="50" charset="-128"/>
                <a:ea typeface="Meiryo UI" panose="020B0604030504040204" pitchFamily="50" charset="-128"/>
              </a:rPr>
              <a:t> UI 10.5pt</a:t>
            </a:r>
            <a:r>
              <a:rPr lang="ja-JP" altLang="en-US" sz="1050">
                <a:solidFill>
                  <a:schemeClr val="tx1"/>
                </a:solidFill>
                <a:latin typeface="Meiryo UI" panose="020B0604030504040204" pitchFamily="50" charset="-128"/>
                <a:ea typeface="Meiryo UI" panose="020B0604030504040204" pitchFamily="50" charset="-128"/>
              </a:rPr>
              <a:t>」で記載されています。文章の記載にあたりフォントの選択は自由ですが、文字サイズは概ねこれを下回らない目安で設定してください。行間も詰めすぎないように注意しましょう。</a:t>
            </a:r>
            <a:endParaRPr lang="en-US" altLang="ja-JP" sz="1050">
              <a:solidFill>
                <a:schemeClr val="tx1"/>
              </a:solidFill>
              <a:latin typeface="Meiryo UI" panose="020B0604030504040204" pitchFamily="50" charset="-128"/>
              <a:ea typeface="Meiryo UI" panose="020B0604030504040204" pitchFamily="50" charset="-128"/>
            </a:endParaRPr>
          </a:p>
          <a:p>
            <a:pPr>
              <a:lnSpc>
                <a:spcPts val="1500"/>
              </a:lnSpc>
            </a:pPr>
            <a:endParaRPr kumimoji="1" lang="en-US" altLang="ja-JP" sz="1050">
              <a:solidFill>
                <a:schemeClr val="tx1"/>
              </a:solidFill>
              <a:latin typeface="Meiryo UI" panose="020B0604030504040204" pitchFamily="50" charset="-128"/>
              <a:ea typeface="Meiryo UI" panose="020B0604030504040204" pitchFamily="50" charset="-128"/>
            </a:endParaRPr>
          </a:p>
          <a:p>
            <a:pPr>
              <a:lnSpc>
                <a:spcPts val="1500"/>
              </a:lnSpc>
            </a:pPr>
            <a:r>
              <a:rPr kumimoji="1" lang="ja-JP" altLang="en-US" sz="1050">
                <a:solidFill>
                  <a:schemeClr val="tx1"/>
                </a:solidFill>
                <a:latin typeface="Meiryo UI" panose="020B0604030504040204" pitchFamily="50" charset="-128"/>
                <a:ea typeface="Meiryo UI" panose="020B0604030504040204" pitchFamily="50" charset="-128"/>
              </a:rPr>
              <a:t>モデルを貼り付ける際の文字サイズも小さくなりすぎることなく、また低解像度にならないようにしてください。最低でも下図程度のサイズは確保してください。</a:t>
            </a:r>
            <a:endParaRPr kumimoji="1" lang="en-US" altLang="ja-JP" sz="1050">
              <a:solidFill>
                <a:schemeClr val="tx1"/>
              </a:solidFill>
              <a:latin typeface="Meiryo UI" panose="020B0604030504040204" pitchFamily="50" charset="-128"/>
              <a:ea typeface="Meiryo UI" panose="020B0604030504040204" pitchFamily="50" charset="-128"/>
            </a:endParaRPr>
          </a:p>
          <a:p>
            <a:pPr>
              <a:lnSpc>
                <a:spcPts val="1500"/>
              </a:lnSpc>
            </a:pPr>
            <a:endParaRPr kumimoji="1" lang="ja-JP" altLang="en-US" sz="1050">
              <a:solidFill>
                <a:schemeClr val="tx1"/>
              </a:solidFill>
              <a:latin typeface="Meiryo UI" panose="020B0604030504040204" pitchFamily="50" charset="-128"/>
              <a:ea typeface="Meiryo UI" panose="020B0604030504040204" pitchFamily="50" charset="-128"/>
            </a:endParaRPr>
          </a:p>
          <a:p>
            <a:pPr algn="ctr">
              <a:lnSpc>
                <a:spcPts val="1500"/>
              </a:lnSpc>
            </a:pPr>
            <a:endParaRPr kumimoji="1" lang="ja-JP" altLang="en-US" sz="1050">
              <a:solidFill>
                <a:schemeClr val="tx1"/>
              </a:solidFill>
              <a:latin typeface="Meiryo UI" panose="020B0604030504040204" pitchFamily="50" charset="-128"/>
              <a:ea typeface="Meiryo UI" panose="020B0604030504040204" pitchFamily="50" charset="-128"/>
            </a:endParaRPr>
          </a:p>
        </p:txBody>
      </p:sp>
      <p:pic>
        <p:nvPicPr>
          <p:cNvPr id="4" name="Picture 8">
            <a:extLst>
              <a:ext uri="{FF2B5EF4-FFF2-40B4-BE49-F238E27FC236}">
                <a16:creationId xmlns:a16="http://schemas.microsoft.com/office/drawing/2014/main" id="{BA1CC61A-3ED4-ED02-A4C9-40DF2DFCAA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152" t="78052" r="50457" b="14460"/>
          <a:stretch/>
        </p:blipFill>
        <p:spPr bwMode="auto">
          <a:xfrm>
            <a:off x="16344651" y="3475100"/>
            <a:ext cx="1800201" cy="32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コンテンツ プレースホルダー 6">
            <a:extLst>
              <a:ext uri="{FF2B5EF4-FFF2-40B4-BE49-F238E27FC236}">
                <a16:creationId xmlns:a16="http://schemas.microsoft.com/office/drawing/2014/main" id="{E7105125-DD89-50A0-39F4-9762ECE24C86}"/>
              </a:ext>
            </a:extLst>
          </p:cNvPr>
          <p:cNvSpPr>
            <a:spLocks noGrp="1"/>
          </p:cNvSpPr>
          <p:nvPr>
            <p:ph idx="1"/>
          </p:nvPr>
        </p:nvSpPr>
        <p:spPr>
          <a:xfrm>
            <a:off x="689641" y="1493826"/>
            <a:ext cx="5163939" cy="2895718"/>
          </a:xfrm>
        </p:spPr>
        <p:txBody>
          <a:bodyPr>
            <a:normAutofit/>
          </a:bodyPr>
          <a:lstStyle/>
          <a:p>
            <a:pPr marL="0" indent="0">
              <a:buNone/>
            </a:pPr>
            <a:r>
              <a:rPr lang="en-US" altLang="ja-JP" sz="2400" b="1">
                <a:solidFill>
                  <a:schemeClr val="accent5">
                    <a:lumMod val="75000"/>
                  </a:schemeClr>
                </a:solidFill>
              </a:rPr>
              <a:t>1.1 </a:t>
            </a:r>
            <a:r>
              <a:rPr lang="ja-JP" altLang="en-US" sz="2400" b="1">
                <a:solidFill>
                  <a:schemeClr val="accent5">
                    <a:lumMod val="75000"/>
                  </a:schemeClr>
                </a:solidFill>
              </a:rPr>
              <a:t>基本戦略</a:t>
            </a:r>
            <a:endParaRPr lang="en-US" altLang="ja-JP" sz="2400" b="1">
              <a:solidFill>
                <a:schemeClr val="accent5">
                  <a:lumMod val="75000"/>
                </a:schemeClr>
              </a:solidFill>
            </a:endParaRPr>
          </a:p>
          <a:p>
            <a:pPr marL="0" indent="0">
              <a:lnSpc>
                <a:spcPct val="100000"/>
              </a:lnSpc>
              <a:buNone/>
            </a:pPr>
            <a:r>
              <a:rPr lang="ja-JP" altLang="en-US" sz="1200"/>
              <a:t>ここでは、</a:t>
            </a:r>
            <a:r>
              <a:rPr lang="en-US" altLang="ja-JP" sz="1200"/>
              <a:t>L</a:t>
            </a:r>
            <a:r>
              <a:rPr lang="ja-JP" altLang="en-US" sz="1200"/>
              <a:t>コースを前提と</a:t>
            </a:r>
            <a:r>
              <a:rPr lang="ja-JP" altLang="en-US" sz="1200">
                <a:solidFill>
                  <a:schemeClr val="accent5">
                    <a:lumMod val="75000"/>
                  </a:schemeClr>
                </a:solidFill>
              </a:rPr>
              <a:t>して</a:t>
            </a:r>
            <a:r>
              <a:rPr lang="ja-JP" altLang="en-US" sz="1200"/>
              <a:t>図表の作成した。</a:t>
            </a:r>
            <a:r>
              <a:rPr lang="en-US" altLang="ja-JP" sz="1200"/>
              <a:t>ET</a:t>
            </a:r>
            <a:r>
              <a:rPr lang="ja-JP" altLang="en-US" sz="1200"/>
              <a:t>ラリー攻略のために</a:t>
            </a:r>
            <a:r>
              <a:rPr lang="en-US" altLang="ja-JP" sz="1200"/>
              <a:t>4</a:t>
            </a:r>
            <a:r>
              <a:rPr lang="ja-JP" altLang="en-US" sz="1200"/>
              <a:t>つのシーンに分類した。</a:t>
            </a:r>
            <a:r>
              <a:rPr lang="en-US" altLang="ja-JP" sz="1200"/>
              <a:t>(</a:t>
            </a:r>
            <a:r>
              <a:rPr lang="ja-JP" altLang="en-US" sz="1200"/>
              <a:t>図</a:t>
            </a:r>
            <a:r>
              <a:rPr lang="en-US" altLang="ja-JP" sz="1200"/>
              <a:t>1.1,</a:t>
            </a:r>
            <a:r>
              <a:rPr lang="ja-JP" altLang="en-US" sz="1200"/>
              <a:t>表</a:t>
            </a:r>
            <a:r>
              <a:rPr lang="en-US" altLang="ja-JP" sz="1200"/>
              <a:t>1.1)</a:t>
            </a:r>
            <a:br>
              <a:rPr lang="en-US" altLang="ja-JP" sz="1200"/>
            </a:br>
            <a:r>
              <a:rPr lang="ja-JP" altLang="en-US" sz="1200"/>
              <a:t>ボトルデリバリーを終え、ライントレースで青のライン</a:t>
            </a:r>
            <a:r>
              <a:rPr lang="en-US" altLang="ja-JP" sz="1200"/>
              <a:t>*</a:t>
            </a:r>
            <a:r>
              <a:rPr lang="ja-JP" altLang="en-US" sz="1200"/>
              <a:t>を認識したところから</a:t>
            </a:r>
            <a:r>
              <a:rPr lang="en-US" altLang="ja-JP" sz="1200"/>
              <a:t>ET</a:t>
            </a:r>
            <a:r>
              <a:rPr lang="ja-JP" altLang="en-US" sz="1200"/>
              <a:t>ラリーが開始となる。ゲートを通る際のコースのガイドとして、表に描いてある仮想的に配置した走行グリッドを基にルートを見つけ、走行する。走行するルートはダイクストラ法を用いて任意のゲートの配置に対して最適なルートを導出する。グリッド上では、角度と距離の指定により走行するため、走行体の正確な位置や角度を管理する必要がある。そのために、</a:t>
            </a:r>
            <a:r>
              <a:rPr lang="en-US" altLang="ja-JP" sz="1200"/>
              <a:t>IMU</a:t>
            </a:r>
            <a:r>
              <a:rPr lang="ja-JP" altLang="en-US" sz="1200"/>
              <a:t>によるジャイロセンサーを用いて、車体の走行軸のずれを判定し、修正する。また、</a:t>
            </a:r>
            <a:r>
              <a:rPr lang="en-US" altLang="ja-JP" sz="1200"/>
              <a:t>IMU</a:t>
            </a:r>
            <a:r>
              <a:rPr lang="ja-JP" altLang="en-US" sz="1200"/>
              <a:t>の基準角の設定はシーン</a:t>
            </a:r>
            <a:r>
              <a:rPr lang="en-US" altLang="ja-JP" sz="1200"/>
              <a:t>1</a:t>
            </a:r>
            <a:r>
              <a:rPr lang="ja-JP" altLang="en-US" sz="1200"/>
              <a:t>で行っているライントレースで取得したジャイロ角を基に行う。</a:t>
            </a:r>
            <a:r>
              <a:rPr lang="en-US" altLang="ja-JP" sz="1200"/>
              <a:t>(</a:t>
            </a:r>
            <a:r>
              <a:rPr lang="ja-JP" altLang="en-US" sz="1200"/>
              <a:t>図</a:t>
            </a:r>
            <a:r>
              <a:rPr lang="en-US" altLang="ja-JP" sz="1200"/>
              <a:t>1.2)</a:t>
            </a:r>
            <a:r>
              <a:rPr lang="ja-JP" altLang="en-US" sz="1200"/>
              <a:t>基準角は北とする。</a:t>
            </a:r>
          </a:p>
          <a:p>
            <a:pPr marL="0" indent="0">
              <a:buNone/>
            </a:pPr>
            <a:endParaRPr lang="ja-JP" altLang="en-US"/>
          </a:p>
          <a:p>
            <a:pPr marL="0" indent="0">
              <a:buNone/>
            </a:pPr>
            <a:endParaRPr lang="ja-JP" altLang="en-US"/>
          </a:p>
        </p:txBody>
      </p:sp>
      <p:pic>
        <p:nvPicPr>
          <p:cNvPr id="9" name="図 8">
            <a:extLst>
              <a:ext uri="{FF2B5EF4-FFF2-40B4-BE49-F238E27FC236}">
                <a16:creationId xmlns:a16="http://schemas.microsoft.com/office/drawing/2014/main" id="{48798B71-BD94-7CF7-B1F6-BD6E62B3E7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7677" y="4400154"/>
            <a:ext cx="4232936" cy="41064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0" name="テキスト ボックス 19">
            <a:extLst>
              <a:ext uri="{FF2B5EF4-FFF2-40B4-BE49-F238E27FC236}">
                <a16:creationId xmlns:a16="http://schemas.microsoft.com/office/drawing/2014/main" id="{33AC1CA2-7E71-94AB-1C7E-F9B94603E510}"/>
              </a:ext>
            </a:extLst>
          </p:cNvPr>
          <p:cNvSpPr txBox="1"/>
          <p:nvPr/>
        </p:nvSpPr>
        <p:spPr>
          <a:xfrm>
            <a:off x="6145588" y="1493826"/>
            <a:ext cx="8597984" cy="1015663"/>
          </a:xfrm>
          <a:prstGeom prst="rect">
            <a:avLst/>
          </a:prstGeom>
          <a:noFill/>
        </p:spPr>
        <p:txBody>
          <a:bodyPr wrap="square" rtlCol="0">
            <a:spAutoFit/>
          </a:bodyPr>
          <a:lstStyle/>
          <a:p>
            <a:r>
              <a:rPr lang="en-US" altLang="ja-JP" sz="2400" b="1">
                <a:solidFill>
                  <a:schemeClr val="accent5">
                    <a:lumMod val="75000"/>
                  </a:schemeClr>
                </a:solidFill>
                <a:latin typeface="+mn-ea"/>
                <a:ea typeface="+mn-ea"/>
              </a:rPr>
              <a:t>1.2</a:t>
            </a:r>
            <a:r>
              <a:rPr lang="ja-JP" altLang="en-US" sz="2400" b="1">
                <a:solidFill>
                  <a:schemeClr val="accent5">
                    <a:lumMod val="75000"/>
                  </a:schemeClr>
                </a:solidFill>
                <a:latin typeface="+mn-ea"/>
                <a:ea typeface="+mn-ea"/>
              </a:rPr>
              <a:t>要求機能とリスク分析</a:t>
            </a:r>
            <a:endParaRPr kumimoji="1" lang="en-US" altLang="ja-JP" sz="2400" b="1">
              <a:solidFill>
                <a:schemeClr val="accent5">
                  <a:lumMod val="75000"/>
                </a:schemeClr>
              </a:solidFill>
              <a:latin typeface="+mn-ea"/>
              <a:ea typeface="+mn-ea"/>
            </a:endParaRPr>
          </a:p>
          <a:p>
            <a:endParaRPr lang="en-US" altLang="ja-JP" sz="1200"/>
          </a:p>
          <a:p>
            <a:r>
              <a:rPr kumimoji="1" lang="ja-JP" altLang="en-US" sz="1200">
                <a:latin typeface="+mn-ea"/>
                <a:ea typeface="+mn-ea"/>
              </a:rPr>
              <a:t>基本戦略から必要な機能やリスクを洗い出し、ユースケース図</a:t>
            </a:r>
            <a:r>
              <a:rPr kumimoji="1" lang="en-US" altLang="ja-JP" sz="1200">
                <a:latin typeface="+mn-ea"/>
                <a:ea typeface="+mn-ea"/>
              </a:rPr>
              <a:t>(</a:t>
            </a:r>
            <a:r>
              <a:rPr kumimoji="1" lang="ja-JP" altLang="en-US" sz="1200">
                <a:latin typeface="+mn-ea"/>
                <a:ea typeface="+mn-ea"/>
              </a:rPr>
              <a:t>図</a:t>
            </a:r>
            <a:r>
              <a:rPr lang="en-US" altLang="ja-JP" sz="1200">
                <a:latin typeface="+mn-ea"/>
                <a:ea typeface="+mn-ea"/>
              </a:rPr>
              <a:t>1.3</a:t>
            </a:r>
            <a:r>
              <a:rPr kumimoji="1" lang="en-US" altLang="ja-JP" sz="1200">
                <a:latin typeface="+mn-ea"/>
                <a:ea typeface="+mn-ea"/>
              </a:rPr>
              <a:t>)</a:t>
            </a:r>
            <a:r>
              <a:rPr kumimoji="1" lang="ja-JP" altLang="en-US" sz="1200">
                <a:latin typeface="+mn-ea"/>
                <a:ea typeface="+mn-ea"/>
              </a:rPr>
              <a:t>を作成した。さらに、ユースケース図から機能分析を行って、ユースケース記述</a:t>
            </a:r>
            <a:r>
              <a:rPr kumimoji="1" lang="en-US" altLang="ja-JP" sz="1200">
                <a:latin typeface="+mn-ea"/>
                <a:ea typeface="+mn-ea"/>
              </a:rPr>
              <a:t>(</a:t>
            </a:r>
            <a:r>
              <a:rPr kumimoji="1" lang="ja-JP" altLang="en-US" sz="1200">
                <a:latin typeface="+mn-ea"/>
                <a:ea typeface="+mn-ea"/>
              </a:rPr>
              <a:t>表</a:t>
            </a:r>
            <a:r>
              <a:rPr lang="en-US" altLang="ja-JP" sz="1200">
                <a:latin typeface="+mn-ea"/>
                <a:ea typeface="+mn-ea"/>
              </a:rPr>
              <a:t>1.2</a:t>
            </a:r>
            <a:r>
              <a:rPr kumimoji="1" lang="en-US" altLang="ja-JP" sz="1200">
                <a:latin typeface="+mn-ea"/>
                <a:ea typeface="+mn-ea"/>
              </a:rPr>
              <a:t>)</a:t>
            </a:r>
            <a:r>
              <a:rPr kumimoji="1" lang="ja-JP" altLang="en-US" sz="1200">
                <a:latin typeface="+mn-ea"/>
                <a:ea typeface="+mn-ea"/>
              </a:rPr>
              <a:t>を記した。また、走行におけるリスクを分析し、緩和策を模索した。</a:t>
            </a:r>
            <a:r>
              <a:rPr kumimoji="1" lang="en-US" altLang="ja-JP" sz="1200">
                <a:latin typeface="+mn-ea"/>
                <a:ea typeface="+mn-ea"/>
              </a:rPr>
              <a:t>(</a:t>
            </a:r>
            <a:r>
              <a:rPr kumimoji="1" lang="ja-JP" altLang="en-US" sz="1200">
                <a:latin typeface="+mn-ea"/>
                <a:ea typeface="+mn-ea"/>
              </a:rPr>
              <a:t>表</a:t>
            </a:r>
            <a:r>
              <a:rPr lang="en-US" altLang="ja-JP" sz="1200">
                <a:latin typeface="+mn-ea"/>
                <a:ea typeface="+mn-ea"/>
              </a:rPr>
              <a:t>1.3</a:t>
            </a:r>
            <a:r>
              <a:rPr kumimoji="1" lang="en-US" altLang="ja-JP" sz="1200">
                <a:latin typeface="+mn-ea"/>
                <a:ea typeface="+mn-ea"/>
              </a:rPr>
              <a:t>)</a:t>
            </a:r>
            <a:endParaRPr kumimoji="1" lang="ja-JP" altLang="en-US" sz="1200">
              <a:latin typeface="+mn-ea"/>
              <a:ea typeface="+mn-ea"/>
            </a:endParaRPr>
          </a:p>
        </p:txBody>
      </p:sp>
      <p:pic>
        <p:nvPicPr>
          <p:cNvPr id="10" name="図 9">
            <a:extLst>
              <a:ext uri="{FF2B5EF4-FFF2-40B4-BE49-F238E27FC236}">
                <a16:creationId xmlns:a16="http://schemas.microsoft.com/office/drawing/2014/main" id="{7B107CB7-7248-2E72-7F27-57B7A5985AC9}"/>
              </a:ext>
            </a:extLst>
          </p:cNvPr>
          <p:cNvPicPr>
            <a:picLocks noChangeAspect="1"/>
          </p:cNvPicPr>
          <p:nvPr/>
        </p:nvPicPr>
        <p:blipFill>
          <a:blip r:embed="rId5"/>
          <a:stretch>
            <a:fillRect/>
          </a:stretch>
        </p:blipFill>
        <p:spPr>
          <a:xfrm>
            <a:off x="774996" y="8972030"/>
            <a:ext cx="4505325" cy="1209675"/>
          </a:xfrm>
          <a:prstGeom prst="rect">
            <a:avLst/>
          </a:prstGeom>
        </p:spPr>
      </p:pic>
      <p:pic>
        <p:nvPicPr>
          <p:cNvPr id="12" name="図 11">
            <a:extLst>
              <a:ext uri="{FF2B5EF4-FFF2-40B4-BE49-F238E27FC236}">
                <a16:creationId xmlns:a16="http://schemas.microsoft.com/office/drawing/2014/main" id="{E3303403-9E30-67A7-2E0E-314B6DEBAD66}"/>
              </a:ext>
            </a:extLst>
          </p:cNvPr>
          <p:cNvPicPr>
            <a:picLocks noChangeAspect="1"/>
          </p:cNvPicPr>
          <p:nvPr/>
        </p:nvPicPr>
        <p:blipFill>
          <a:blip r:embed="rId6"/>
          <a:stretch>
            <a:fillRect/>
          </a:stretch>
        </p:blipFill>
        <p:spPr>
          <a:xfrm>
            <a:off x="11154881" y="5565282"/>
            <a:ext cx="3695700" cy="3114675"/>
          </a:xfrm>
          <a:prstGeom prst="rect">
            <a:avLst/>
          </a:prstGeom>
        </p:spPr>
      </p:pic>
      <p:pic>
        <p:nvPicPr>
          <p:cNvPr id="16" name="図 15">
            <a:extLst>
              <a:ext uri="{FF2B5EF4-FFF2-40B4-BE49-F238E27FC236}">
                <a16:creationId xmlns:a16="http://schemas.microsoft.com/office/drawing/2014/main" id="{DD24C1C0-2381-BB2E-7941-85A5E037B8F9}"/>
              </a:ext>
            </a:extLst>
          </p:cNvPr>
          <p:cNvPicPr>
            <a:picLocks noChangeAspect="1"/>
          </p:cNvPicPr>
          <p:nvPr/>
        </p:nvPicPr>
        <p:blipFill>
          <a:blip r:embed="rId7">
            <a:extLst>
              <a:ext uri="{28A0092B-C50C-407E-A947-70E740481C1C}">
                <a14:useLocalDpi xmlns:a14="http://schemas.microsoft.com/office/drawing/2010/main" val="0"/>
              </a:ext>
            </a:extLst>
          </a:blip>
          <a:srcRect l="10946" t="14815" r="8042" b="33616"/>
          <a:stretch>
            <a:fillRect/>
          </a:stretch>
        </p:blipFill>
        <p:spPr>
          <a:xfrm>
            <a:off x="6092125" y="2565008"/>
            <a:ext cx="8665996" cy="26135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テキスト ボックス 17">
            <a:extLst>
              <a:ext uri="{FF2B5EF4-FFF2-40B4-BE49-F238E27FC236}">
                <a16:creationId xmlns:a16="http://schemas.microsoft.com/office/drawing/2014/main" id="{A3C4F9A0-97B7-3B58-B274-8CB64A9DE2EF}"/>
              </a:ext>
            </a:extLst>
          </p:cNvPr>
          <p:cNvSpPr txBox="1"/>
          <p:nvPr/>
        </p:nvSpPr>
        <p:spPr>
          <a:xfrm>
            <a:off x="992758" y="8131535"/>
            <a:ext cx="889987" cy="261610"/>
          </a:xfrm>
          <a:prstGeom prst="rect">
            <a:avLst/>
          </a:prstGeom>
          <a:noFill/>
        </p:spPr>
        <p:txBody>
          <a:bodyPr wrap="none" rtlCol="0">
            <a:spAutoFit/>
          </a:bodyPr>
          <a:lstStyle/>
          <a:p>
            <a:r>
              <a:rPr lang="ja-JP" altLang="en-US" sz="1100"/>
              <a:t>青のライン</a:t>
            </a:r>
            <a:r>
              <a:rPr lang="en-US" altLang="ja-JP" sz="1100"/>
              <a:t>*</a:t>
            </a:r>
            <a:endParaRPr kumimoji="1" lang="ja-JP" altLang="en-US" sz="1100"/>
          </a:p>
        </p:txBody>
      </p:sp>
      <p:sp>
        <p:nvSpPr>
          <p:cNvPr id="23" name="テキスト ボックス 22">
            <a:extLst>
              <a:ext uri="{FF2B5EF4-FFF2-40B4-BE49-F238E27FC236}">
                <a16:creationId xmlns:a16="http://schemas.microsoft.com/office/drawing/2014/main" id="{E674ECAA-863E-408F-2014-838A65244866}"/>
              </a:ext>
            </a:extLst>
          </p:cNvPr>
          <p:cNvSpPr txBox="1"/>
          <p:nvPr/>
        </p:nvSpPr>
        <p:spPr>
          <a:xfrm>
            <a:off x="17081720" y="10112691"/>
            <a:ext cx="2959465" cy="375937"/>
          </a:xfrm>
          <a:prstGeom prst="rect">
            <a:avLst/>
          </a:prstGeom>
          <a:noFill/>
        </p:spPr>
        <p:txBody>
          <a:bodyPr wrap="none" rtlCol="0">
            <a:spAutoFit/>
          </a:bodyPr>
          <a:lstStyle/>
          <a:p>
            <a:r>
              <a:rPr kumimoji="1" lang="ja-JP" altLang="en-US"/>
              <a:t>シーン</a:t>
            </a:r>
            <a:r>
              <a:rPr kumimoji="1" lang="en-US" altLang="ja-JP"/>
              <a:t>1</a:t>
            </a:r>
            <a:r>
              <a:rPr kumimoji="1" lang="ja-JP" altLang="en-US"/>
              <a:t>における実際の動き</a:t>
            </a:r>
          </a:p>
        </p:txBody>
      </p:sp>
      <p:sp>
        <p:nvSpPr>
          <p:cNvPr id="25" name="テキスト ボックス 24">
            <a:extLst>
              <a:ext uri="{FF2B5EF4-FFF2-40B4-BE49-F238E27FC236}">
                <a16:creationId xmlns:a16="http://schemas.microsoft.com/office/drawing/2014/main" id="{93FB4C4A-A845-813B-58B7-4AB2C2500B42}"/>
              </a:ext>
            </a:extLst>
          </p:cNvPr>
          <p:cNvSpPr txBox="1"/>
          <p:nvPr/>
        </p:nvSpPr>
        <p:spPr>
          <a:xfrm>
            <a:off x="2037016" y="8591991"/>
            <a:ext cx="1223412" cy="276999"/>
          </a:xfrm>
          <a:prstGeom prst="rect">
            <a:avLst/>
          </a:prstGeom>
          <a:noFill/>
        </p:spPr>
        <p:txBody>
          <a:bodyPr wrap="none" rtlCol="0">
            <a:spAutoFit/>
          </a:bodyPr>
          <a:lstStyle/>
          <a:p>
            <a:r>
              <a:rPr lang="ja-JP" altLang="en-US" sz="1200"/>
              <a:t>図</a:t>
            </a:r>
            <a:r>
              <a:rPr lang="en-US" altLang="ja-JP" sz="1200"/>
              <a:t>1.1 </a:t>
            </a:r>
            <a:r>
              <a:rPr lang="ja-JP" altLang="en-US" sz="1200"/>
              <a:t>基本戦略</a:t>
            </a:r>
            <a:r>
              <a:rPr lang="en-US" altLang="ja-JP" sz="1200"/>
              <a:t> </a:t>
            </a:r>
            <a:endParaRPr kumimoji="1" lang="ja-JP" altLang="en-US" sz="1200"/>
          </a:p>
        </p:txBody>
      </p:sp>
      <p:sp>
        <p:nvSpPr>
          <p:cNvPr id="26" name="テキスト ボックス 25">
            <a:extLst>
              <a:ext uri="{FF2B5EF4-FFF2-40B4-BE49-F238E27FC236}">
                <a16:creationId xmlns:a16="http://schemas.microsoft.com/office/drawing/2014/main" id="{B2002E5B-D0D0-98AD-864A-2143E98F802F}"/>
              </a:ext>
            </a:extLst>
          </p:cNvPr>
          <p:cNvSpPr txBox="1"/>
          <p:nvPr/>
        </p:nvSpPr>
        <p:spPr>
          <a:xfrm>
            <a:off x="2037016" y="10219954"/>
            <a:ext cx="1603324" cy="276999"/>
          </a:xfrm>
          <a:prstGeom prst="rect">
            <a:avLst/>
          </a:prstGeom>
          <a:noFill/>
        </p:spPr>
        <p:txBody>
          <a:bodyPr wrap="none" rtlCol="0">
            <a:spAutoFit/>
          </a:bodyPr>
          <a:lstStyle/>
          <a:p>
            <a:r>
              <a:rPr kumimoji="1" lang="ja-JP" altLang="en-US" sz="1200"/>
              <a:t>表</a:t>
            </a:r>
            <a:r>
              <a:rPr kumimoji="1" lang="en-US" altLang="ja-JP" sz="1200"/>
              <a:t>1.1</a:t>
            </a:r>
            <a:r>
              <a:rPr kumimoji="1" lang="ja-JP" altLang="en-US" sz="1200"/>
              <a:t> 各シーンの概要</a:t>
            </a:r>
          </a:p>
        </p:txBody>
      </p:sp>
      <p:sp>
        <p:nvSpPr>
          <p:cNvPr id="27" name="テキスト ボックス 26">
            <a:extLst>
              <a:ext uri="{FF2B5EF4-FFF2-40B4-BE49-F238E27FC236}">
                <a16:creationId xmlns:a16="http://schemas.microsoft.com/office/drawing/2014/main" id="{55B96602-1899-9C43-4200-282A4C44E4C6}"/>
              </a:ext>
            </a:extLst>
          </p:cNvPr>
          <p:cNvSpPr txBox="1"/>
          <p:nvPr/>
        </p:nvSpPr>
        <p:spPr>
          <a:xfrm>
            <a:off x="5503338" y="7839147"/>
            <a:ext cx="5616624" cy="1200329"/>
          </a:xfrm>
          <a:prstGeom prst="rect">
            <a:avLst/>
          </a:prstGeom>
          <a:noFill/>
        </p:spPr>
        <p:txBody>
          <a:bodyPr wrap="square" rtlCol="0">
            <a:spAutoFit/>
          </a:bodyPr>
          <a:lstStyle/>
          <a:p>
            <a:r>
              <a:rPr kumimoji="1" lang="ja-JP" altLang="en-US" sz="1200">
                <a:latin typeface="+mn-ea"/>
                <a:ea typeface="+mn-ea"/>
              </a:rPr>
              <a:t>図</a:t>
            </a:r>
            <a:r>
              <a:rPr lang="en-US" altLang="ja-JP" sz="1200">
                <a:latin typeface="+mn-ea"/>
                <a:ea typeface="+mn-ea"/>
              </a:rPr>
              <a:t>1.2</a:t>
            </a:r>
            <a:r>
              <a:rPr kumimoji="1" lang="en-US" altLang="ja-JP" sz="1200">
                <a:latin typeface="+mn-ea"/>
                <a:ea typeface="+mn-ea"/>
              </a:rPr>
              <a:t> </a:t>
            </a:r>
            <a:r>
              <a:rPr kumimoji="1" lang="ja-JP" altLang="en-US" sz="1200">
                <a:latin typeface="+mn-ea"/>
                <a:ea typeface="+mn-ea"/>
              </a:rPr>
              <a:t>シーン</a:t>
            </a:r>
            <a:r>
              <a:rPr kumimoji="1" lang="en-US" altLang="ja-JP" sz="1200">
                <a:latin typeface="+mn-ea"/>
                <a:ea typeface="+mn-ea"/>
              </a:rPr>
              <a:t>1</a:t>
            </a:r>
            <a:r>
              <a:rPr kumimoji="1" lang="ja-JP" altLang="en-US" sz="1200">
                <a:latin typeface="+mn-ea"/>
                <a:ea typeface="+mn-ea"/>
              </a:rPr>
              <a:t>における詳細な動き</a:t>
            </a:r>
            <a:br>
              <a:rPr kumimoji="1" lang="en-US" altLang="ja-JP" sz="1200">
                <a:latin typeface="+mn-ea"/>
                <a:ea typeface="+mn-ea"/>
              </a:rPr>
            </a:br>
            <a:r>
              <a:rPr kumimoji="1" lang="ja-JP" altLang="en-US" sz="1200">
                <a:latin typeface="+mn-ea"/>
                <a:ea typeface="+mn-ea"/>
              </a:rPr>
              <a:t>ラリータスク開始位置から一定距離後退する。再び青ラインに到達するまで低速でライントレースをすることで、修正値</a:t>
            </a:r>
            <a:r>
              <a:rPr lang="en-US" altLang="ja-JP" sz="1200">
                <a:latin typeface="+mn-ea"/>
                <a:ea typeface="+mn-ea"/>
              </a:rPr>
              <a:t>(</a:t>
            </a:r>
            <a:r>
              <a:rPr lang="ja-JP" altLang="en-US" sz="1200">
                <a:latin typeface="+mn-ea"/>
                <a:ea typeface="+mn-ea"/>
              </a:rPr>
              <a:t>ジャイロ角の目標値と現在値の差</a:t>
            </a:r>
            <a:r>
              <a:rPr lang="en-US" altLang="ja-JP" sz="1200">
                <a:latin typeface="+mn-ea"/>
                <a:ea typeface="+mn-ea"/>
              </a:rPr>
              <a:t>)</a:t>
            </a:r>
            <a:r>
              <a:rPr kumimoji="1" lang="ja-JP" altLang="en-US" sz="1200">
                <a:latin typeface="+mn-ea"/>
                <a:ea typeface="+mn-ea"/>
              </a:rPr>
              <a:t>がほぼゼロになるような走行を実現する。</a:t>
            </a:r>
            <a:r>
              <a:rPr lang="ja-JP" altLang="ja-JP" sz="1200">
                <a:latin typeface="+mn-ea"/>
                <a:ea typeface="+mn-ea"/>
              </a:rPr>
              <a:t>ライントレースの​制御周期毎に​ジャイロ角を​記録</a:t>
            </a:r>
            <a:r>
              <a:rPr lang="ja-JP" altLang="en-US" sz="1200">
                <a:latin typeface="+mn-ea"/>
                <a:ea typeface="+mn-ea"/>
              </a:rPr>
              <a:t>する。</a:t>
            </a:r>
            <a:r>
              <a:rPr kumimoji="1" lang="ja-JP" altLang="en-US" sz="1200">
                <a:latin typeface="+mn-ea"/>
                <a:ea typeface="+mn-ea"/>
              </a:rPr>
              <a:t>取得したジャイロ角の平均を平均方位とする。平均方位から右に</a:t>
            </a:r>
            <a:r>
              <a:rPr kumimoji="1" lang="en-US" altLang="ja-JP" sz="1200">
                <a:latin typeface="+mn-ea"/>
                <a:ea typeface="+mn-ea"/>
              </a:rPr>
              <a:t>90°</a:t>
            </a:r>
            <a:r>
              <a:rPr lang="ja-JP" altLang="en-US" sz="1200">
                <a:latin typeface="+mn-ea"/>
                <a:ea typeface="+mn-ea"/>
              </a:rPr>
              <a:t>の</a:t>
            </a:r>
            <a:r>
              <a:rPr kumimoji="1" lang="ja-JP" altLang="en-US" sz="1200">
                <a:latin typeface="+mn-ea"/>
                <a:ea typeface="+mn-ea"/>
              </a:rPr>
              <a:t>角度を基準角として設定する。</a:t>
            </a:r>
            <a:endParaRPr lang="en-US" altLang="ja-JP" sz="1200">
              <a:latin typeface="+mn-ea"/>
              <a:ea typeface="+mn-ea"/>
            </a:endParaRPr>
          </a:p>
        </p:txBody>
      </p:sp>
      <p:sp>
        <p:nvSpPr>
          <p:cNvPr id="30" name="テキスト ボックス 29">
            <a:extLst>
              <a:ext uri="{FF2B5EF4-FFF2-40B4-BE49-F238E27FC236}">
                <a16:creationId xmlns:a16="http://schemas.microsoft.com/office/drawing/2014/main" id="{938A6ECE-2D43-91FD-45B2-B21CA2FF32A0}"/>
              </a:ext>
            </a:extLst>
          </p:cNvPr>
          <p:cNvSpPr txBox="1"/>
          <p:nvPr/>
        </p:nvSpPr>
        <p:spPr>
          <a:xfrm>
            <a:off x="5456453" y="9385882"/>
            <a:ext cx="2855197" cy="1015663"/>
          </a:xfrm>
          <a:prstGeom prst="rect">
            <a:avLst/>
          </a:prstGeom>
          <a:noFill/>
        </p:spPr>
        <p:txBody>
          <a:bodyPr wrap="square" rtlCol="0">
            <a:spAutoFit/>
          </a:bodyPr>
          <a:lstStyle/>
          <a:p>
            <a:r>
              <a:rPr kumimoji="1" lang="ja-JP" altLang="en-US" sz="1200">
                <a:latin typeface="+mn-ea"/>
                <a:ea typeface="+mn-ea"/>
              </a:rPr>
              <a:t>表</a:t>
            </a:r>
            <a:r>
              <a:rPr lang="en-US" altLang="ja-JP" sz="1200">
                <a:latin typeface="+mn-ea"/>
                <a:ea typeface="+mn-ea"/>
              </a:rPr>
              <a:t>1.3</a:t>
            </a:r>
            <a:r>
              <a:rPr kumimoji="1" lang="en-US" altLang="ja-JP" sz="1200">
                <a:latin typeface="+mn-ea"/>
                <a:ea typeface="+mn-ea"/>
              </a:rPr>
              <a:t> </a:t>
            </a:r>
            <a:r>
              <a:rPr kumimoji="1" lang="ja-JP" altLang="en-US" sz="1200">
                <a:latin typeface="+mn-ea"/>
                <a:ea typeface="+mn-ea"/>
              </a:rPr>
              <a:t>リスク分析と緩和策→</a:t>
            </a:r>
            <a:endParaRPr kumimoji="1" lang="en-US" altLang="ja-JP" sz="1200">
              <a:latin typeface="+mn-ea"/>
              <a:ea typeface="+mn-ea"/>
            </a:endParaRPr>
          </a:p>
          <a:p>
            <a:r>
              <a:rPr lang="ja-JP" altLang="en-US" sz="1200">
                <a:latin typeface="+mn-ea"/>
                <a:ea typeface="+mn-ea"/>
              </a:rPr>
              <a:t>ミスユースケース</a:t>
            </a:r>
            <a:r>
              <a:rPr lang="en-US" altLang="ja-JP" sz="1200">
                <a:latin typeface="+mn-ea"/>
                <a:ea typeface="+mn-ea"/>
              </a:rPr>
              <a:t>02</a:t>
            </a:r>
            <a:r>
              <a:rPr lang="ja-JP" altLang="en-US" sz="1200">
                <a:latin typeface="+mn-ea"/>
                <a:ea typeface="+mn-ea"/>
              </a:rPr>
              <a:t>の緩和策として基準角を設定する。そのためにユースケースに低速ライントレースを導入した。</a:t>
            </a:r>
            <a:endParaRPr kumimoji="1" lang="ja-JP" altLang="en-US" sz="1200">
              <a:latin typeface="+mn-ea"/>
              <a:ea typeface="+mn-ea"/>
            </a:endParaRPr>
          </a:p>
        </p:txBody>
      </p:sp>
      <p:pic>
        <p:nvPicPr>
          <p:cNvPr id="36" name="図 35">
            <a:extLst>
              <a:ext uri="{FF2B5EF4-FFF2-40B4-BE49-F238E27FC236}">
                <a16:creationId xmlns:a16="http://schemas.microsoft.com/office/drawing/2014/main" id="{3123DD0F-523A-0E52-0121-9F840D5BE41F}"/>
              </a:ext>
            </a:extLst>
          </p:cNvPr>
          <p:cNvPicPr>
            <a:picLocks noChangeAspect="1"/>
          </p:cNvPicPr>
          <p:nvPr/>
        </p:nvPicPr>
        <p:blipFill>
          <a:blip r:embed="rId8">
            <a:extLst>
              <a:ext uri="{28A0092B-C50C-407E-A947-70E740481C1C}">
                <a14:useLocalDpi xmlns:a14="http://schemas.microsoft.com/office/drawing/2010/main" val="0"/>
              </a:ext>
            </a:extLst>
          </a:blip>
          <a:srcRect l="21051" r="15444"/>
          <a:stretch>
            <a:fillRect/>
          </a:stretch>
        </p:blipFill>
        <p:spPr>
          <a:xfrm>
            <a:off x="4823371" y="4459291"/>
            <a:ext cx="360040" cy="425526"/>
          </a:xfrm>
          <a:prstGeom prst="rect">
            <a:avLst/>
          </a:prstGeom>
        </p:spPr>
      </p:pic>
      <p:sp>
        <p:nvSpPr>
          <p:cNvPr id="38" name="テキスト ボックス 37">
            <a:extLst>
              <a:ext uri="{FF2B5EF4-FFF2-40B4-BE49-F238E27FC236}">
                <a16:creationId xmlns:a16="http://schemas.microsoft.com/office/drawing/2014/main" id="{BBA39DBA-00EF-80BC-2214-9D9C3FA74B60}"/>
              </a:ext>
            </a:extLst>
          </p:cNvPr>
          <p:cNvSpPr txBox="1"/>
          <p:nvPr/>
        </p:nvSpPr>
        <p:spPr>
          <a:xfrm>
            <a:off x="12196260" y="8679957"/>
            <a:ext cx="1741182" cy="276999"/>
          </a:xfrm>
          <a:prstGeom prst="rect">
            <a:avLst/>
          </a:prstGeom>
          <a:noFill/>
        </p:spPr>
        <p:txBody>
          <a:bodyPr wrap="none" rtlCol="0">
            <a:spAutoFit/>
          </a:bodyPr>
          <a:lstStyle/>
          <a:p>
            <a:r>
              <a:rPr kumimoji="1" lang="ja-JP" altLang="en-US" sz="1200"/>
              <a:t>表</a:t>
            </a:r>
            <a:r>
              <a:rPr lang="en-US" altLang="ja-JP" sz="1200"/>
              <a:t>1.2</a:t>
            </a:r>
            <a:r>
              <a:rPr kumimoji="1" lang="en-US" altLang="ja-JP" sz="1200"/>
              <a:t> </a:t>
            </a:r>
            <a:r>
              <a:rPr kumimoji="1" lang="ja-JP" altLang="en-US" sz="1200"/>
              <a:t>ユースケース</a:t>
            </a:r>
            <a:r>
              <a:rPr lang="ja-JP" altLang="en-US" sz="1200"/>
              <a:t>記述</a:t>
            </a:r>
            <a:endParaRPr kumimoji="1" lang="en-US" altLang="ja-JP" sz="1200"/>
          </a:p>
        </p:txBody>
      </p:sp>
      <p:pic>
        <p:nvPicPr>
          <p:cNvPr id="40" name="図 39">
            <a:extLst>
              <a:ext uri="{FF2B5EF4-FFF2-40B4-BE49-F238E27FC236}">
                <a16:creationId xmlns:a16="http://schemas.microsoft.com/office/drawing/2014/main" id="{0AE90762-8B46-F8C6-A479-1B7776482178}"/>
              </a:ext>
            </a:extLst>
          </p:cNvPr>
          <p:cNvPicPr>
            <a:picLocks noChangeAspect="1"/>
          </p:cNvPicPr>
          <p:nvPr/>
        </p:nvPicPr>
        <p:blipFill>
          <a:blip r:embed="rId9"/>
          <a:stretch>
            <a:fillRect/>
          </a:stretch>
        </p:blipFill>
        <p:spPr>
          <a:xfrm>
            <a:off x="8311650" y="9090322"/>
            <a:ext cx="6584251" cy="1487553"/>
          </a:xfrm>
          <a:prstGeom prst="rect">
            <a:avLst/>
          </a:prstGeom>
        </p:spPr>
      </p:pic>
      <p:sp>
        <p:nvSpPr>
          <p:cNvPr id="41" name="テキスト ボックス 40">
            <a:extLst>
              <a:ext uri="{FF2B5EF4-FFF2-40B4-BE49-F238E27FC236}">
                <a16:creationId xmlns:a16="http://schemas.microsoft.com/office/drawing/2014/main" id="{783D4A04-CEC7-D138-313A-EEF4E3663EDC}"/>
              </a:ext>
            </a:extLst>
          </p:cNvPr>
          <p:cNvSpPr txBox="1"/>
          <p:nvPr/>
        </p:nvSpPr>
        <p:spPr>
          <a:xfrm>
            <a:off x="9608516" y="5247677"/>
            <a:ext cx="1587294" cy="276999"/>
          </a:xfrm>
          <a:prstGeom prst="rect">
            <a:avLst/>
          </a:prstGeom>
          <a:noFill/>
        </p:spPr>
        <p:txBody>
          <a:bodyPr wrap="none" rtlCol="0">
            <a:spAutoFit/>
          </a:bodyPr>
          <a:lstStyle/>
          <a:p>
            <a:r>
              <a:rPr kumimoji="1" lang="ja-JP" altLang="en-US" sz="1200"/>
              <a:t>図</a:t>
            </a:r>
            <a:r>
              <a:rPr lang="en-US" altLang="ja-JP" sz="1200"/>
              <a:t>1.3</a:t>
            </a:r>
            <a:r>
              <a:rPr kumimoji="1" lang="en-US" altLang="ja-JP" sz="1200"/>
              <a:t> </a:t>
            </a:r>
            <a:r>
              <a:rPr kumimoji="1" lang="ja-JP" altLang="en-US" sz="1200"/>
              <a:t>ユースケース図</a:t>
            </a:r>
          </a:p>
        </p:txBody>
      </p:sp>
      <p:pic>
        <p:nvPicPr>
          <p:cNvPr id="47" name="図 46">
            <a:extLst>
              <a:ext uri="{FF2B5EF4-FFF2-40B4-BE49-F238E27FC236}">
                <a16:creationId xmlns:a16="http://schemas.microsoft.com/office/drawing/2014/main" id="{9383E2EE-2C28-9F19-0878-AF10514955A9}"/>
              </a:ext>
            </a:extLst>
          </p:cNvPr>
          <p:cNvPicPr>
            <a:picLocks noChangeAspect="1"/>
          </p:cNvPicPr>
          <p:nvPr/>
        </p:nvPicPr>
        <p:blipFill>
          <a:blip r:embed="rId10">
            <a:extLst>
              <a:ext uri="{28A0092B-C50C-407E-A947-70E740481C1C}">
                <a14:useLocalDpi xmlns:a14="http://schemas.microsoft.com/office/drawing/2010/main" val="0"/>
              </a:ext>
            </a:extLst>
          </a:blip>
          <a:srcRect l="21564" t="28028" r="14757" b="25049"/>
          <a:stretch>
            <a:fillRect/>
          </a:stretch>
        </p:blipFill>
        <p:spPr>
          <a:xfrm>
            <a:off x="5612493" y="5662956"/>
            <a:ext cx="5217786" cy="20665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6" name="四角形: 角を丸くする 65">
            <a:extLst>
              <a:ext uri="{FF2B5EF4-FFF2-40B4-BE49-F238E27FC236}">
                <a16:creationId xmlns:a16="http://schemas.microsoft.com/office/drawing/2014/main" id="{3EEA36CF-D353-6F37-30F0-358E0DCF5137}"/>
              </a:ext>
            </a:extLst>
          </p:cNvPr>
          <p:cNvSpPr/>
          <p:nvPr/>
        </p:nvSpPr>
        <p:spPr>
          <a:xfrm>
            <a:off x="5255419" y="205537"/>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t>振舞いモデル</a:t>
            </a:r>
            <a:r>
              <a:rPr kumimoji="1" lang="en-US" altLang="ja-JP" sz="2800"/>
              <a:t>1</a:t>
            </a:r>
            <a:endParaRPr kumimoji="1" lang="ja-JP" altLang="en-US" sz="2800"/>
          </a:p>
        </p:txBody>
      </p:sp>
      <p:sp>
        <p:nvSpPr>
          <p:cNvPr id="68" name="四角形: 角を丸くする 67">
            <a:extLst>
              <a:ext uri="{FF2B5EF4-FFF2-40B4-BE49-F238E27FC236}">
                <a16:creationId xmlns:a16="http://schemas.microsoft.com/office/drawing/2014/main" id="{FEC60B5B-1F8B-07CC-90E2-D0EEC2AC8C28}"/>
              </a:ext>
            </a:extLst>
          </p:cNvPr>
          <p:cNvSpPr/>
          <p:nvPr/>
        </p:nvSpPr>
        <p:spPr>
          <a:xfrm>
            <a:off x="7839154" y="201529"/>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800"/>
              <a:t>振舞いモデル</a:t>
            </a:r>
            <a:r>
              <a:rPr lang="en-US" altLang="ja-JP" sz="2800"/>
              <a:t>2</a:t>
            </a:r>
            <a:endParaRPr lang="ja-JP" altLang="en-US" sz="2800"/>
          </a:p>
        </p:txBody>
      </p:sp>
      <p:pic>
        <p:nvPicPr>
          <p:cNvPr id="70" name="図 69">
            <a:extLst>
              <a:ext uri="{FF2B5EF4-FFF2-40B4-BE49-F238E27FC236}">
                <a16:creationId xmlns:a16="http://schemas.microsoft.com/office/drawing/2014/main" id="{02F947DB-1E46-C9B0-7F92-A77E8DA69A7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425123" y="76315"/>
            <a:ext cx="4731647" cy="1050698"/>
          </a:xfrm>
          <a:prstGeom prst="rect">
            <a:avLst/>
          </a:prstGeom>
        </p:spPr>
      </p:pic>
      <p:sp>
        <p:nvSpPr>
          <p:cNvPr id="72" name="正方形/長方形 71">
            <a:extLst>
              <a:ext uri="{FF2B5EF4-FFF2-40B4-BE49-F238E27FC236}">
                <a16:creationId xmlns:a16="http://schemas.microsoft.com/office/drawing/2014/main" id="{B46A6117-0CB8-AD61-74A9-3423A4B2C506}"/>
              </a:ext>
            </a:extLst>
          </p:cNvPr>
          <p:cNvSpPr/>
          <p:nvPr/>
        </p:nvSpPr>
        <p:spPr>
          <a:xfrm>
            <a:off x="-433213" y="1017662"/>
            <a:ext cx="17569952" cy="29880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82023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7E2DF1C9-4613-A4DB-8EFA-1D5889D92F13}"/>
              </a:ext>
            </a:extLst>
          </p:cNvPr>
          <p:cNvPicPr>
            <a:picLocks noChangeAspect="1"/>
          </p:cNvPicPr>
          <p:nvPr/>
        </p:nvPicPr>
        <p:blipFill>
          <a:blip r:embed="rId3"/>
          <a:srcRect l="11631" t="22241" r="10514" b="15102"/>
          <a:stretch>
            <a:fillRect/>
          </a:stretch>
        </p:blipFill>
        <p:spPr>
          <a:xfrm>
            <a:off x="2999989" y="2990207"/>
            <a:ext cx="11868061" cy="7496069"/>
          </a:xfrm>
          <a:prstGeom prst="rect">
            <a:avLst/>
          </a:prstGeom>
        </p:spPr>
      </p:pic>
      <p:pic>
        <p:nvPicPr>
          <p:cNvPr id="4" name="図 3">
            <a:extLst>
              <a:ext uri="{FF2B5EF4-FFF2-40B4-BE49-F238E27FC236}">
                <a16:creationId xmlns:a16="http://schemas.microsoft.com/office/drawing/2014/main" id="{503A1888-9D57-604E-C58A-EEE19FD3D1A6}"/>
              </a:ext>
            </a:extLst>
          </p:cNvPr>
          <p:cNvPicPr>
            <a:picLocks noChangeAspect="1"/>
          </p:cNvPicPr>
          <p:nvPr/>
        </p:nvPicPr>
        <p:blipFill>
          <a:blip r:embed="rId4"/>
          <a:srcRect l="9984" t="5924" r="72877" b="72600"/>
          <a:stretch>
            <a:fillRect/>
          </a:stretch>
        </p:blipFill>
        <p:spPr>
          <a:xfrm>
            <a:off x="242775" y="7623980"/>
            <a:ext cx="2448134" cy="2155865"/>
          </a:xfrm>
          <a:prstGeom prst="rect">
            <a:avLst/>
          </a:prstGeom>
        </p:spPr>
      </p:pic>
      <p:sp>
        <p:nvSpPr>
          <p:cNvPr id="8" name="四角形: 角を丸くする 7">
            <a:extLst>
              <a:ext uri="{FF2B5EF4-FFF2-40B4-BE49-F238E27FC236}">
                <a16:creationId xmlns:a16="http://schemas.microsoft.com/office/drawing/2014/main" id="{1E53F3BB-537C-A18B-9A98-E8F3867D9253}"/>
              </a:ext>
            </a:extLst>
          </p:cNvPr>
          <p:cNvSpPr/>
          <p:nvPr/>
        </p:nvSpPr>
        <p:spPr>
          <a:xfrm>
            <a:off x="15432936" y="6743852"/>
            <a:ext cx="9382013" cy="3322013"/>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ts val="1500"/>
              </a:lnSpc>
            </a:pPr>
            <a:r>
              <a:rPr lang="en-US" altLang="ja-JP" sz="2000">
                <a:solidFill>
                  <a:schemeClr val="tx1"/>
                </a:solidFill>
                <a:latin typeface="Meiryo UI"/>
                <a:ea typeface="Meiryo UI"/>
              </a:rPr>
              <a:t>3.3クラス図</a:t>
            </a:r>
            <a:endParaRPr lang="en-US" altLang="ja-JP" sz="2000">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a:solidFill>
                  <a:schemeClr val="tx1"/>
                </a:solidFill>
                <a:latin typeface="Meiryo UI" panose="020B0604030504040204" pitchFamily="50" charset="-128"/>
                <a:ea typeface="Meiryo UI" panose="020B0604030504040204" pitchFamily="50" charset="-128"/>
              </a:rPr>
              <a:t>審査規約には以下の記載があります：</a:t>
            </a:r>
            <a:endParaRPr lang="en-US" altLang="ja-JP" sz="1050">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a:solidFill>
                  <a:schemeClr val="tx1"/>
                </a:solidFill>
                <a:latin typeface="Meiryo UI" panose="020B0604030504040204" pitchFamily="50" charset="-128"/>
                <a:ea typeface="Meiryo UI" panose="020B0604030504040204" pitchFamily="50" charset="-128"/>
              </a:rPr>
              <a:t>「</a:t>
            </a:r>
            <a:r>
              <a:rPr kumimoji="1" lang="ja-JP" altLang="en-US" sz="1050" b="1">
                <a:solidFill>
                  <a:schemeClr val="tx1"/>
                </a:solidFill>
                <a:latin typeface="Meiryo UI" panose="020B0604030504040204" pitchFamily="50" charset="-128"/>
                <a:ea typeface="Meiryo UI" panose="020B0604030504040204" pitchFamily="50" charset="-128"/>
              </a:rPr>
              <a:t>印刷時に読みにくい文字サイズや画像解像度で記載されているモデルは、減点や表彰対象外になる可能性があります」</a:t>
            </a:r>
            <a:endParaRPr kumimoji="1" lang="en-US" altLang="ja-JP" sz="1050" b="1">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a:solidFill>
                  <a:schemeClr val="tx1"/>
                </a:solidFill>
                <a:latin typeface="Meiryo UI"/>
                <a:ea typeface="Meiryo UI"/>
              </a:rPr>
              <a:t>このテキストボックスは「</a:t>
            </a:r>
            <a:r>
              <a:rPr lang="en-US" altLang="ja-JP" sz="1050" err="1">
                <a:solidFill>
                  <a:schemeClr val="tx1"/>
                </a:solidFill>
                <a:latin typeface="Meiryo UI"/>
                <a:ea typeface="Meiryo UI"/>
              </a:rPr>
              <a:t>Meiryo</a:t>
            </a:r>
            <a:r>
              <a:rPr lang="en-US" altLang="ja-JP" sz="1050">
                <a:solidFill>
                  <a:schemeClr val="tx1"/>
                </a:solidFill>
                <a:latin typeface="Meiryo UI"/>
                <a:ea typeface="Meiryo UI"/>
              </a:rPr>
              <a:t> UI 10.5pt</a:t>
            </a:r>
            <a:r>
              <a:rPr lang="ja-JP" altLang="en-US" sz="1050">
                <a:solidFill>
                  <a:schemeClr val="tx1"/>
                </a:solidFill>
                <a:latin typeface="Meiryo UI"/>
                <a:ea typeface="Meiryo UI"/>
              </a:rPr>
              <a:t>」で記載されています。文章の記載にあたりフォントの選択は自由ですが、文字サイズは概ねこれを下回らない目安で設定してください。行間も詰めすぎないように注意しましょう。</a:t>
            </a:r>
            <a:endParaRPr lang="en-US" altLang="ja-JP" sz="1050">
              <a:solidFill>
                <a:schemeClr val="tx1"/>
              </a:solidFill>
              <a:latin typeface="Meiryo UI"/>
              <a:ea typeface="Meiryo UI"/>
            </a:endParaRPr>
          </a:p>
          <a:p>
            <a:pPr>
              <a:lnSpc>
                <a:spcPts val="1500"/>
              </a:lnSpc>
            </a:pPr>
            <a:endParaRPr kumimoji="1" lang="en-US" altLang="ja-JP" sz="1050">
              <a:solidFill>
                <a:schemeClr val="tx1"/>
              </a:solidFill>
              <a:latin typeface="Meiryo UI" panose="020B0604030504040204" pitchFamily="50" charset="-128"/>
              <a:ea typeface="Meiryo UI" panose="020B0604030504040204" pitchFamily="50" charset="-128"/>
            </a:endParaRPr>
          </a:p>
          <a:p>
            <a:pPr>
              <a:lnSpc>
                <a:spcPts val="1500"/>
              </a:lnSpc>
            </a:pPr>
            <a:r>
              <a:rPr kumimoji="1" lang="ja-JP" altLang="en-US" sz="1050">
                <a:solidFill>
                  <a:schemeClr val="tx1"/>
                </a:solidFill>
                <a:latin typeface="Meiryo UI" panose="020B0604030504040204" pitchFamily="50" charset="-128"/>
                <a:ea typeface="Meiryo UI" panose="020B0604030504040204" pitchFamily="50" charset="-128"/>
              </a:rPr>
              <a:t>モデルを貼り付ける際の文字サイズも小さくなりすぎることなく、また低解像度にならないようにしてください。最低でも下図程度のサイズは確保してください。</a:t>
            </a:r>
            <a:endParaRPr kumimoji="1" lang="en-US" altLang="ja-JP" sz="1050">
              <a:solidFill>
                <a:schemeClr val="tx1"/>
              </a:solidFill>
              <a:latin typeface="Meiryo UI" panose="020B0604030504040204" pitchFamily="50" charset="-128"/>
              <a:ea typeface="Meiryo UI" panose="020B0604030504040204" pitchFamily="50" charset="-128"/>
            </a:endParaRPr>
          </a:p>
          <a:p>
            <a:pPr>
              <a:lnSpc>
                <a:spcPts val="1500"/>
              </a:lnSpc>
            </a:pPr>
            <a:endParaRPr kumimoji="1" lang="ja-JP" altLang="en-US" sz="1050">
              <a:solidFill>
                <a:schemeClr val="tx1"/>
              </a:solidFill>
              <a:latin typeface="Meiryo UI" panose="020B0604030504040204" pitchFamily="50" charset="-128"/>
              <a:ea typeface="Meiryo UI" panose="020B0604030504040204" pitchFamily="50" charset="-128"/>
            </a:endParaRPr>
          </a:p>
          <a:p>
            <a:pPr algn="ctr">
              <a:lnSpc>
                <a:spcPts val="1500"/>
              </a:lnSpc>
            </a:pPr>
            <a:endParaRPr kumimoji="1" lang="ja-JP" altLang="en-US" sz="1050">
              <a:solidFill>
                <a:schemeClr val="tx1"/>
              </a:solidFill>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83C2F8CA-EBA7-F5E0-9AB7-52E6FBA977E0}"/>
              </a:ext>
            </a:extLst>
          </p:cNvPr>
          <p:cNvPicPr>
            <a:picLocks noChangeAspect="1"/>
          </p:cNvPicPr>
          <p:nvPr/>
        </p:nvPicPr>
        <p:blipFill>
          <a:blip r:embed="rId5"/>
          <a:srcRect l="120" r="-129" b="-965"/>
          <a:stretch>
            <a:fillRect/>
          </a:stretch>
        </p:blipFill>
        <p:spPr>
          <a:xfrm>
            <a:off x="289717" y="2732115"/>
            <a:ext cx="3356460" cy="2232659"/>
          </a:xfrm>
          <a:prstGeom prst="rect">
            <a:avLst/>
          </a:prstGeom>
        </p:spPr>
      </p:pic>
      <p:sp>
        <p:nvSpPr>
          <p:cNvPr id="9" name="四角形: 角を丸くする 8">
            <a:extLst>
              <a:ext uri="{FF2B5EF4-FFF2-40B4-BE49-F238E27FC236}">
                <a16:creationId xmlns:a16="http://schemas.microsoft.com/office/drawing/2014/main" id="{036805FA-1F85-3A30-69B7-57D6F51C70A3}"/>
              </a:ext>
            </a:extLst>
          </p:cNvPr>
          <p:cNvSpPr/>
          <p:nvPr/>
        </p:nvSpPr>
        <p:spPr>
          <a:xfrm>
            <a:off x="15433641" y="2824713"/>
            <a:ext cx="4129937" cy="1641073"/>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Bef>
                <a:spcPct val="30000"/>
              </a:spcBef>
            </a:pPr>
            <a:endParaRPr lang="ja-JP" altLang="en-US" sz="1200">
              <a:solidFill>
                <a:srgbClr val="444444"/>
              </a:solidFill>
              <a:latin typeface="Times New Roman"/>
              <a:ea typeface="Meiryo UI" panose="020B0604030504040204" pitchFamily="50" charset="-128"/>
              <a:cs typeface="Times New Roman"/>
            </a:endParaRPr>
          </a:p>
          <a:p>
            <a:pPr>
              <a:spcBef>
                <a:spcPct val="30000"/>
              </a:spcBef>
            </a:pPr>
            <a:r>
              <a:rPr lang="ja-JP" sz="1600">
                <a:solidFill>
                  <a:schemeClr val="tx1"/>
                </a:solidFill>
                <a:latin typeface="Times New Roman"/>
                <a:ea typeface="Meiryo UI"/>
                <a:cs typeface="Times New Roman"/>
              </a:rPr>
              <a:t>3.要求機能のカテゴリー分け</a:t>
            </a:r>
          </a:p>
          <a:p>
            <a:r>
              <a:rPr lang="ja-JP" sz="1200">
                <a:solidFill>
                  <a:schemeClr val="tx1"/>
                </a:solidFill>
                <a:latin typeface="Times New Roman"/>
                <a:ea typeface="Meiryo UI" panose="020B0604030504040204" pitchFamily="50" charset="-128"/>
                <a:cs typeface="Times New Roman"/>
              </a:rPr>
              <a:t>機能モデルの図2.1</a:t>
            </a:r>
            <a:r>
              <a:rPr lang="ja-JP" sz="1200">
                <a:solidFill>
                  <a:schemeClr val="tx1"/>
                </a:solidFill>
                <a:latin typeface="Times New Roman"/>
                <a:ea typeface="Meiryo UI"/>
                <a:cs typeface="Times New Roman"/>
              </a:rPr>
              <a:t>ユースケース図</a:t>
            </a:r>
            <a:r>
              <a:rPr kumimoji="1" lang="ja-JP" sz="1200">
                <a:solidFill>
                  <a:schemeClr val="tx1"/>
                </a:solidFill>
                <a:latin typeface="Times New Roman"/>
                <a:ea typeface="Meiryo UI" panose="020B0604030504040204" pitchFamily="50" charset="-128"/>
                <a:cs typeface="Times New Roman"/>
              </a:rPr>
              <a:t>に</a:t>
            </a:r>
            <a:r>
              <a:rPr lang="ja-JP" sz="1200">
                <a:solidFill>
                  <a:schemeClr val="tx1"/>
                </a:solidFill>
                <a:latin typeface="Times New Roman"/>
                <a:ea typeface="Meiryo UI" panose="020B0604030504040204" pitchFamily="50" charset="-128"/>
                <a:cs typeface="Times New Roman"/>
              </a:rPr>
              <a:t>お</a:t>
            </a:r>
            <a:r>
              <a:rPr kumimoji="1" lang="ja-JP" sz="1200">
                <a:solidFill>
                  <a:schemeClr val="tx1"/>
                </a:solidFill>
                <a:latin typeface="Times New Roman"/>
                <a:ea typeface="Meiryo UI" panose="020B0604030504040204" pitchFamily="50" charset="-128"/>
                <a:cs typeface="Times New Roman"/>
              </a:rPr>
              <a:t>いて</a:t>
            </a:r>
            <a:r>
              <a:rPr lang="ja-JP" sz="1200">
                <a:solidFill>
                  <a:schemeClr val="tx1"/>
                </a:solidFill>
                <a:latin typeface="Times New Roman"/>
                <a:ea typeface="Meiryo UI" panose="020B0604030504040204" pitchFamily="50" charset="-128"/>
                <a:cs typeface="Times New Roman"/>
              </a:rPr>
              <a:t>洗</a:t>
            </a:r>
            <a:r>
              <a:rPr kumimoji="1" lang="ja-JP" sz="1200">
                <a:solidFill>
                  <a:schemeClr val="tx1"/>
                </a:solidFill>
                <a:latin typeface="Times New Roman"/>
                <a:ea typeface="Meiryo UI" panose="020B0604030504040204" pitchFamily="50" charset="-128"/>
                <a:cs typeface="Times New Roman"/>
              </a:rPr>
              <a:t>い</a:t>
            </a:r>
            <a:r>
              <a:rPr lang="ja-JP" sz="1200">
                <a:solidFill>
                  <a:schemeClr val="tx1"/>
                </a:solidFill>
                <a:latin typeface="Times New Roman"/>
                <a:ea typeface="Meiryo UI" panose="020B0604030504040204" pitchFamily="50" charset="-128"/>
                <a:cs typeface="Times New Roman"/>
              </a:rPr>
              <a:t>出したETラリー攻略におけ</a:t>
            </a:r>
            <a:r>
              <a:rPr kumimoji="1" lang="ja-JP" sz="1200">
                <a:solidFill>
                  <a:schemeClr val="tx1"/>
                </a:solidFill>
                <a:latin typeface="Times New Roman"/>
                <a:ea typeface="Meiryo UI" panose="020B0604030504040204" pitchFamily="50" charset="-128"/>
                <a:cs typeface="Times New Roman"/>
              </a:rPr>
              <a:t>る</a:t>
            </a:r>
            <a:r>
              <a:rPr lang="ja-JP" sz="1200">
                <a:solidFill>
                  <a:schemeClr val="tx1"/>
                </a:solidFill>
                <a:latin typeface="Times New Roman"/>
                <a:ea typeface="Meiryo UI" panose="020B0604030504040204" pitchFamily="50" charset="-128"/>
                <a:cs typeface="Times New Roman"/>
              </a:rPr>
              <a:t>必要な機能をパッケージ</a:t>
            </a:r>
            <a:r>
              <a:rPr lang="ja-JP" sz="1200">
                <a:solidFill>
                  <a:schemeClr val="tx1"/>
                </a:solidFill>
                <a:latin typeface="Times New Roman"/>
                <a:ea typeface="Meiryo UI"/>
                <a:cs typeface="Times New Roman"/>
              </a:rPr>
              <a:t>構造</a:t>
            </a:r>
            <a:r>
              <a:rPr kumimoji="1" lang="ja-JP" sz="1200">
                <a:solidFill>
                  <a:schemeClr val="tx1"/>
                </a:solidFill>
                <a:latin typeface="Times New Roman"/>
                <a:ea typeface="Meiryo UI" panose="020B0604030504040204" pitchFamily="50" charset="-128"/>
                <a:cs typeface="Times New Roman"/>
              </a:rPr>
              <a:t>に</a:t>
            </a:r>
            <a:r>
              <a:rPr lang="ja-JP" sz="1200">
                <a:solidFill>
                  <a:schemeClr val="tx1"/>
                </a:solidFill>
                <a:latin typeface="Times New Roman"/>
                <a:ea typeface="Meiryo UI" panose="020B0604030504040204" pitchFamily="50" charset="-128"/>
                <a:cs typeface="Times New Roman"/>
              </a:rPr>
              <a:t>落とし込むため主</a:t>
            </a:r>
            <a:r>
              <a:rPr kumimoji="1" lang="ja-JP" sz="1200">
                <a:solidFill>
                  <a:schemeClr val="tx1"/>
                </a:solidFill>
                <a:latin typeface="Times New Roman"/>
                <a:ea typeface="Meiryo UI" panose="020B0604030504040204" pitchFamily="50" charset="-128"/>
                <a:cs typeface="Times New Roman"/>
              </a:rPr>
              <a:t>な</a:t>
            </a:r>
            <a:r>
              <a:rPr lang="ja-JP" sz="1200">
                <a:solidFill>
                  <a:schemeClr val="tx1"/>
                </a:solidFill>
                <a:latin typeface="Times New Roman"/>
                <a:ea typeface="Meiryo UI" panose="020B0604030504040204" pitchFamily="50" charset="-128"/>
                <a:cs typeface="Times New Roman"/>
              </a:rPr>
              <a:t>タ</a:t>
            </a:r>
            <a:r>
              <a:rPr lang="ja-JP" sz="1200">
                <a:solidFill>
                  <a:schemeClr val="tx1"/>
                </a:solidFill>
                <a:latin typeface="Times New Roman"/>
                <a:ea typeface="Meiryo UI"/>
                <a:cs typeface="Times New Roman"/>
              </a:rPr>
              <a:t>スクについて検討したものを表3.1に記す。</a:t>
            </a:r>
          </a:p>
          <a:p>
            <a:pPr>
              <a:lnSpc>
                <a:spcPts val="1500"/>
              </a:lnSpc>
            </a:pPr>
            <a:endParaRPr lang="ja-JP" altLang="en-US" sz="1050">
              <a:solidFill>
                <a:schemeClr val="tx1"/>
              </a:solidFill>
              <a:latin typeface="Meiryo UI"/>
              <a:ea typeface="Meiryo UI"/>
            </a:endParaRPr>
          </a:p>
          <a:p>
            <a:pPr algn="ctr">
              <a:lnSpc>
                <a:spcPts val="1500"/>
              </a:lnSpc>
            </a:pP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10" name="四角形: 角を丸くする 9">
            <a:extLst>
              <a:ext uri="{FF2B5EF4-FFF2-40B4-BE49-F238E27FC236}">
                <a16:creationId xmlns:a16="http://schemas.microsoft.com/office/drawing/2014/main" id="{0228AB27-10DC-9268-FE5B-E4C2B1E764B6}"/>
              </a:ext>
            </a:extLst>
          </p:cNvPr>
          <p:cNvSpPr/>
          <p:nvPr/>
        </p:nvSpPr>
        <p:spPr>
          <a:xfrm>
            <a:off x="17338655" y="2843428"/>
            <a:ext cx="8252970" cy="1641007"/>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ts val="1500"/>
              </a:lnSpc>
            </a:pPr>
            <a:r>
              <a:rPr lang="en-US" altLang="ja-JP" sz="2000">
                <a:solidFill>
                  <a:schemeClr val="tx1"/>
                </a:solidFill>
                <a:latin typeface="Meiryo UI"/>
                <a:ea typeface="Meiryo UI"/>
              </a:rPr>
              <a:t>3.2パッケージ図</a:t>
            </a:r>
            <a:endParaRPr lang="en-US" altLang="ja-JP" sz="2000">
              <a:solidFill>
                <a:schemeClr val="tx1"/>
              </a:solidFill>
              <a:latin typeface="Meiryo UI"/>
              <a:ea typeface="Meiryo UI"/>
              <a:cs typeface="Calibri"/>
            </a:endParaRPr>
          </a:p>
          <a:p>
            <a:pPr>
              <a:lnSpc>
                <a:spcPts val="1500"/>
              </a:lnSpc>
            </a:pPr>
            <a:r>
              <a:rPr lang="en-US" altLang="ja-JP" sz="1100">
                <a:solidFill>
                  <a:schemeClr val="tx1"/>
                </a:solidFill>
                <a:latin typeface="Meiryo UI"/>
                <a:ea typeface="Meiryo UI"/>
              </a:rPr>
              <a:t>表3.1でカテゴリー分けしたものをパッケージ構造に落とし込んだ図を図3.1に記す。ETラリー攻略開始のトリガーとなる存在である</a:t>
            </a:r>
            <a:r>
              <a:rPr lang="en-US" sz="1100">
                <a:solidFill>
                  <a:schemeClr val="tx1"/>
                </a:solidFill>
                <a:latin typeface="Meiryo UI"/>
                <a:ea typeface="Meiryo UI"/>
              </a:rPr>
              <a:t>「進行管理」</a:t>
            </a:r>
            <a:r>
              <a:rPr lang="ja-JP" altLang="en-US" sz="1100">
                <a:solidFill>
                  <a:schemeClr val="tx1"/>
                </a:solidFill>
                <a:latin typeface="Meiryo UI"/>
                <a:ea typeface="Meiryo UI"/>
              </a:rPr>
              <a:t>パッケージ</a:t>
            </a:r>
            <a:r>
              <a:rPr lang="en-US" sz="1100">
                <a:solidFill>
                  <a:schemeClr val="tx1"/>
                </a:solidFill>
                <a:latin typeface="Meiryo UI"/>
                <a:ea typeface="Meiryo UI"/>
              </a:rPr>
              <a:t>、</a:t>
            </a:r>
            <a:r>
              <a:rPr lang="ja-JP" altLang="en-US" sz="1100">
                <a:solidFill>
                  <a:schemeClr val="tx1"/>
                </a:solidFill>
                <a:latin typeface="Meiryo UI"/>
                <a:ea typeface="Meiryo UI"/>
              </a:rPr>
              <a:t>多クラス間にわたって利用される定数や定義された構造体等のデータ群を管理する「共有データ」パッケージを追加している。上流から下流にかけてタスクを分担し逆流を防ぐ管理することで</a:t>
            </a:r>
            <a:r>
              <a:rPr lang="ja-JP" altLang="en-US" sz="1100">
                <a:solidFill>
                  <a:schemeClr val="tx1"/>
                </a:solidFill>
                <a:latin typeface="Meiryo UI"/>
                <a:ea typeface="Meiryo UI"/>
                <a:cs typeface="+mn-lt"/>
              </a:rPr>
              <a:t>パッケージ間の責務を分離し責任のありかを明確にしている</a:t>
            </a:r>
            <a:r>
              <a:rPr lang="ja-JP" sz="1200">
                <a:latin typeface="Meiryo UI"/>
                <a:ea typeface="Meiryo UI"/>
                <a:cs typeface="+mn-lt"/>
              </a:rPr>
              <a:t>各パッケージの責務を分離し</a:t>
            </a:r>
            <a:endParaRPr lang="ja-JP" altLang="en-US" sz="1200">
              <a:latin typeface="Meiryo UI"/>
              <a:ea typeface="Meiryo UI"/>
            </a:endParaRPr>
          </a:p>
          <a:p>
            <a:pPr algn="ctr">
              <a:lnSpc>
                <a:spcPts val="1500"/>
              </a:lnSpc>
            </a:pPr>
            <a:endParaRPr lang="en-US" altLang="ja-JP" sz="1050">
              <a:solidFill>
                <a:schemeClr val="tx1"/>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F113114E-6C26-B31C-DE36-E1E7C37A3615}"/>
              </a:ext>
            </a:extLst>
          </p:cNvPr>
          <p:cNvSpPr txBox="1"/>
          <p:nvPr/>
        </p:nvSpPr>
        <p:spPr>
          <a:xfrm>
            <a:off x="148901" y="1483588"/>
            <a:ext cx="4915615" cy="16696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30000"/>
              </a:spcBef>
            </a:pPr>
            <a:r>
              <a:rPr lang="en-US" altLang="ja-JP" sz="2400" b="1">
                <a:solidFill>
                  <a:schemeClr val="accent5">
                    <a:lumMod val="75000"/>
                  </a:schemeClr>
                </a:solidFill>
                <a:latin typeface="+mn-ea"/>
                <a:ea typeface="+mn-ea"/>
                <a:cs typeface="Times New Roman"/>
              </a:rPr>
              <a:t>2</a:t>
            </a:r>
            <a:r>
              <a:rPr lang="ja-JP" sz="2400" b="1">
                <a:solidFill>
                  <a:schemeClr val="accent5">
                    <a:lumMod val="75000"/>
                  </a:schemeClr>
                </a:solidFill>
                <a:latin typeface="+mn-ea"/>
                <a:ea typeface="+mn-ea"/>
                <a:cs typeface="Times New Roman"/>
              </a:rPr>
              <a:t>.</a:t>
            </a:r>
            <a:r>
              <a:rPr lang="en-US" altLang="ja-JP" sz="2400" b="1">
                <a:solidFill>
                  <a:schemeClr val="accent5">
                    <a:lumMod val="75000"/>
                  </a:schemeClr>
                </a:solidFill>
                <a:latin typeface="+mn-ea"/>
                <a:ea typeface="+mn-ea"/>
                <a:cs typeface="Times New Roman"/>
              </a:rPr>
              <a:t>1</a:t>
            </a:r>
            <a:r>
              <a:rPr lang="ja-JP" sz="2400" b="1">
                <a:solidFill>
                  <a:schemeClr val="accent5">
                    <a:lumMod val="75000"/>
                  </a:schemeClr>
                </a:solidFill>
                <a:latin typeface="+mn-ea"/>
                <a:ea typeface="+mn-ea"/>
                <a:cs typeface="Times New Roman"/>
              </a:rPr>
              <a:t>要求機能のカテゴリー分け</a:t>
            </a:r>
            <a:endParaRPr lang="en-US" altLang="ja-JP" sz="2400" b="1">
              <a:solidFill>
                <a:schemeClr val="accent5">
                  <a:lumMod val="75000"/>
                </a:schemeClr>
              </a:solidFill>
              <a:latin typeface="+mn-ea"/>
              <a:ea typeface="+mn-ea"/>
              <a:cs typeface="Times New Roman"/>
            </a:endParaRPr>
          </a:p>
          <a:p>
            <a:endParaRPr lang="en-US" altLang="ja-JP" sz="1200">
              <a:latin typeface="+mn-ea"/>
              <a:ea typeface="+mn-ea"/>
              <a:cs typeface="Times New Roman"/>
            </a:endParaRPr>
          </a:p>
          <a:p>
            <a:r>
              <a:rPr lang="ja-JP" sz="1200">
                <a:latin typeface="+mn-ea"/>
                <a:ea typeface="+mn-ea"/>
                <a:cs typeface="Times New Roman"/>
              </a:rPr>
              <a:t>機能モデルの図</a:t>
            </a:r>
            <a:r>
              <a:rPr lang="en-US" altLang="ja-JP" sz="1200">
                <a:latin typeface="+mn-ea"/>
                <a:ea typeface="+mn-ea"/>
                <a:cs typeface="Times New Roman"/>
              </a:rPr>
              <a:t>1.3</a:t>
            </a:r>
            <a:r>
              <a:rPr lang="ja-JP" sz="1200">
                <a:latin typeface="+mn-ea"/>
                <a:ea typeface="+mn-ea"/>
                <a:cs typeface="Times New Roman"/>
              </a:rPr>
              <a:t>ユースケース図において</a:t>
            </a:r>
            <a:r>
              <a:rPr lang="ja-JP" altLang="en-US" sz="1200">
                <a:latin typeface="+mn-ea"/>
                <a:ea typeface="+mn-ea"/>
                <a:cs typeface="Times New Roman"/>
              </a:rPr>
              <a:t>抽</a:t>
            </a:r>
            <a:r>
              <a:rPr lang="ja-JP" sz="1200">
                <a:latin typeface="+mn-ea"/>
                <a:ea typeface="+mn-ea"/>
                <a:cs typeface="Times New Roman"/>
              </a:rPr>
              <a:t>出したETラリー攻略における必要な機能をパッケージ構造に落とし込むため主なタスクについて検討したものを表</a:t>
            </a:r>
            <a:r>
              <a:rPr lang="en-US" altLang="ja-JP" sz="1200">
                <a:latin typeface="+mn-ea"/>
                <a:ea typeface="+mn-ea"/>
                <a:cs typeface="Times New Roman"/>
              </a:rPr>
              <a:t>2</a:t>
            </a:r>
            <a:r>
              <a:rPr lang="ja-JP" sz="1200">
                <a:latin typeface="+mn-ea"/>
                <a:ea typeface="+mn-ea"/>
                <a:cs typeface="Times New Roman"/>
              </a:rPr>
              <a:t>.1に記す。</a:t>
            </a:r>
            <a:endParaRPr lang="en-US" altLang="ja-JP" sz="1200">
              <a:latin typeface="+mn-ea"/>
              <a:ea typeface="+mn-ea"/>
              <a:cs typeface="Times New Roman"/>
            </a:endParaRPr>
          </a:p>
          <a:p>
            <a:pPr>
              <a:lnSpc>
                <a:spcPts val="1500"/>
              </a:lnSpc>
            </a:pPr>
            <a:endParaRPr lang="ja-JP" sz="1100">
              <a:latin typeface="Meiryo UI"/>
              <a:ea typeface="Meiryo UI"/>
              <a:cs typeface="Times New Roman"/>
            </a:endParaRPr>
          </a:p>
          <a:p>
            <a:pPr algn="l"/>
            <a:endParaRPr lang="ja-JP" altLang="en-US" sz="1800">
              <a:cs typeface="Times New Roman"/>
            </a:endParaRPr>
          </a:p>
        </p:txBody>
      </p:sp>
      <p:sp>
        <p:nvSpPr>
          <p:cNvPr id="11" name="テキスト ボックス 10">
            <a:extLst>
              <a:ext uri="{FF2B5EF4-FFF2-40B4-BE49-F238E27FC236}">
                <a16:creationId xmlns:a16="http://schemas.microsoft.com/office/drawing/2014/main" id="{C7EC5740-BD72-257E-6E45-9637647D6DD8}"/>
              </a:ext>
            </a:extLst>
          </p:cNvPr>
          <p:cNvSpPr txBox="1"/>
          <p:nvPr/>
        </p:nvSpPr>
        <p:spPr>
          <a:xfrm>
            <a:off x="557727" y="4908752"/>
            <a:ext cx="24505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200">
                <a:latin typeface="+mn-ea"/>
                <a:ea typeface="+mn-ea"/>
                <a:cs typeface="Times New Roman"/>
              </a:rPr>
              <a:t>表</a:t>
            </a:r>
            <a:r>
              <a:rPr lang="en-US" altLang="ja-JP" sz="1200">
                <a:latin typeface="+mn-ea"/>
                <a:ea typeface="+mn-ea"/>
                <a:cs typeface="Times New Roman"/>
              </a:rPr>
              <a:t>2</a:t>
            </a:r>
            <a:r>
              <a:rPr lang="ja-JP" altLang="en-US" sz="1200">
                <a:latin typeface="+mn-ea"/>
                <a:ea typeface="+mn-ea"/>
                <a:cs typeface="Times New Roman"/>
              </a:rPr>
              <a:t>.1</a:t>
            </a:r>
            <a:r>
              <a:rPr lang="ja-JP" sz="1200">
                <a:latin typeface="+mn-ea"/>
                <a:ea typeface="+mn-ea"/>
                <a:cs typeface="Times New Roman"/>
              </a:rPr>
              <a:t>要求機能のカテゴリー分け</a:t>
            </a:r>
            <a:endParaRPr lang="ja-JP" altLang="en-US">
              <a:latin typeface="+mn-ea"/>
              <a:ea typeface="+mn-ea"/>
            </a:endParaRPr>
          </a:p>
        </p:txBody>
      </p:sp>
      <p:sp>
        <p:nvSpPr>
          <p:cNvPr id="12" name="テキスト ボックス 11">
            <a:extLst>
              <a:ext uri="{FF2B5EF4-FFF2-40B4-BE49-F238E27FC236}">
                <a16:creationId xmlns:a16="http://schemas.microsoft.com/office/drawing/2014/main" id="{DA859704-2688-DEB6-F935-92CDFC8A5C6F}"/>
              </a:ext>
            </a:extLst>
          </p:cNvPr>
          <p:cNvSpPr txBox="1"/>
          <p:nvPr/>
        </p:nvSpPr>
        <p:spPr>
          <a:xfrm>
            <a:off x="529384" y="9998119"/>
            <a:ext cx="232521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200">
                <a:latin typeface="+mn-ea"/>
                <a:ea typeface="+mn-ea"/>
                <a:cs typeface="Times New Roman"/>
              </a:rPr>
              <a:t>図</a:t>
            </a:r>
            <a:r>
              <a:rPr lang="en-US" altLang="ja-JP" sz="1200">
                <a:latin typeface="+mn-ea"/>
                <a:ea typeface="+mn-ea"/>
                <a:cs typeface="Times New Roman"/>
              </a:rPr>
              <a:t>2</a:t>
            </a:r>
            <a:r>
              <a:rPr lang="ja-JP" altLang="en-US" sz="1200">
                <a:latin typeface="+mn-ea"/>
                <a:ea typeface="+mn-ea"/>
                <a:cs typeface="Times New Roman"/>
              </a:rPr>
              <a:t>.1パッケージ構造</a:t>
            </a:r>
            <a:endParaRPr lang="ja-JP">
              <a:latin typeface="+mn-ea"/>
              <a:ea typeface="+mn-ea"/>
            </a:endParaRPr>
          </a:p>
        </p:txBody>
      </p:sp>
      <p:sp>
        <p:nvSpPr>
          <p:cNvPr id="13" name="テキスト ボックス 12">
            <a:extLst>
              <a:ext uri="{FF2B5EF4-FFF2-40B4-BE49-F238E27FC236}">
                <a16:creationId xmlns:a16="http://schemas.microsoft.com/office/drawing/2014/main" id="{C2869E50-1208-5173-B81F-0DD5C8BB1CAC}"/>
              </a:ext>
            </a:extLst>
          </p:cNvPr>
          <p:cNvSpPr txBox="1"/>
          <p:nvPr/>
        </p:nvSpPr>
        <p:spPr>
          <a:xfrm>
            <a:off x="9503891" y="9998118"/>
            <a:ext cx="290774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200">
                <a:latin typeface="+mn-ea"/>
                <a:ea typeface="+mn-ea"/>
                <a:cs typeface="Times New Roman"/>
              </a:rPr>
              <a:t>図</a:t>
            </a:r>
            <a:r>
              <a:rPr lang="en-US" altLang="ja-JP" sz="1200">
                <a:latin typeface="+mn-ea"/>
                <a:ea typeface="+mn-ea"/>
                <a:cs typeface="Times New Roman"/>
              </a:rPr>
              <a:t>2</a:t>
            </a:r>
            <a:r>
              <a:rPr lang="ja-JP" altLang="en-US" sz="1200">
                <a:latin typeface="+mn-ea"/>
                <a:ea typeface="+mn-ea"/>
                <a:cs typeface="Times New Roman"/>
              </a:rPr>
              <a:t>.2クラス構造</a:t>
            </a:r>
          </a:p>
        </p:txBody>
      </p:sp>
      <p:sp>
        <p:nvSpPr>
          <p:cNvPr id="14" name="テキスト ボックス 13">
            <a:extLst>
              <a:ext uri="{FF2B5EF4-FFF2-40B4-BE49-F238E27FC236}">
                <a16:creationId xmlns:a16="http://schemas.microsoft.com/office/drawing/2014/main" id="{54BA7BC4-9B87-796D-0572-A676C24D826F}"/>
              </a:ext>
            </a:extLst>
          </p:cNvPr>
          <p:cNvSpPr txBox="1"/>
          <p:nvPr/>
        </p:nvSpPr>
        <p:spPr>
          <a:xfrm>
            <a:off x="242775" y="5420576"/>
            <a:ext cx="3592408" cy="2203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500"/>
              </a:lnSpc>
            </a:pPr>
            <a:r>
              <a:rPr lang="en-US" altLang="ja-JP" sz="2400" b="1">
                <a:solidFill>
                  <a:schemeClr val="accent5">
                    <a:lumMod val="75000"/>
                  </a:schemeClr>
                </a:solidFill>
                <a:latin typeface="+mn-ea"/>
                <a:ea typeface="+mn-ea"/>
                <a:cs typeface="Times New Roman"/>
              </a:rPr>
              <a:t>2.2</a:t>
            </a:r>
            <a:r>
              <a:rPr lang="ja-JP" altLang="en-US" sz="2400" b="1">
                <a:solidFill>
                  <a:schemeClr val="accent5">
                    <a:lumMod val="75000"/>
                  </a:schemeClr>
                </a:solidFill>
                <a:latin typeface="+mn-ea"/>
                <a:ea typeface="+mn-ea"/>
                <a:cs typeface="Times New Roman"/>
              </a:rPr>
              <a:t>パッケージ図</a:t>
            </a:r>
            <a:endParaRPr lang="en-US" altLang="ja-JP" sz="2400" b="1">
              <a:solidFill>
                <a:schemeClr val="accent5">
                  <a:lumMod val="75000"/>
                </a:schemeClr>
              </a:solidFill>
              <a:latin typeface="+mn-ea"/>
              <a:ea typeface="+mn-ea"/>
              <a:cs typeface="Times New Roman"/>
            </a:endParaRPr>
          </a:p>
          <a:p>
            <a:pPr algn="l">
              <a:lnSpc>
                <a:spcPts val="1500"/>
              </a:lnSpc>
            </a:pPr>
            <a:endParaRPr lang="en-US" altLang="ja-JP" sz="2400" b="1">
              <a:solidFill>
                <a:schemeClr val="accent5">
                  <a:lumMod val="75000"/>
                </a:schemeClr>
              </a:solidFill>
              <a:latin typeface="+mn-ea"/>
              <a:ea typeface="+mn-ea"/>
              <a:cs typeface="Times New Roman"/>
            </a:endParaRPr>
          </a:p>
          <a:p>
            <a:pPr algn="l">
              <a:lnSpc>
                <a:spcPts val="1500"/>
              </a:lnSpc>
            </a:pPr>
            <a:r>
              <a:rPr lang="ja-JP" altLang="en-US" sz="1200">
                <a:latin typeface="+mn-ea"/>
                <a:ea typeface="+mn-ea"/>
                <a:cs typeface="Times New Roman"/>
              </a:rPr>
              <a:t>表</a:t>
            </a:r>
            <a:r>
              <a:rPr lang="en-US" altLang="ja-JP" sz="1200">
                <a:latin typeface="+mn-ea"/>
                <a:ea typeface="+mn-ea"/>
                <a:cs typeface="Times New Roman"/>
              </a:rPr>
              <a:t>2.1</a:t>
            </a:r>
            <a:r>
              <a:rPr lang="ja-JP" altLang="en-US" sz="1200">
                <a:latin typeface="+mn-ea"/>
                <a:ea typeface="+mn-ea"/>
                <a:cs typeface="Times New Roman"/>
              </a:rPr>
              <a:t>でカテゴリー分けしたものをパッケージ構造に落とし込んだ図を図</a:t>
            </a:r>
            <a:r>
              <a:rPr lang="en-US" altLang="ja-JP" sz="1200">
                <a:latin typeface="+mn-ea"/>
                <a:ea typeface="+mn-ea"/>
                <a:cs typeface="Times New Roman"/>
              </a:rPr>
              <a:t>2.1</a:t>
            </a:r>
            <a:r>
              <a:rPr lang="ja-JP" altLang="en-US" sz="1200">
                <a:latin typeface="+mn-ea"/>
                <a:ea typeface="+mn-ea"/>
                <a:cs typeface="Times New Roman"/>
              </a:rPr>
              <a:t>に記す。</a:t>
            </a:r>
            <a:r>
              <a:rPr lang="en-US" altLang="ja-JP" sz="1200">
                <a:latin typeface="+mn-ea"/>
                <a:ea typeface="+mn-ea"/>
                <a:cs typeface="Times New Roman"/>
              </a:rPr>
              <a:t>ET</a:t>
            </a:r>
            <a:r>
              <a:rPr lang="ja-JP" altLang="en-US" sz="1200">
                <a:latin typeface="+mn-ea"/>
                <a:ea typeface="+mn-ea"/>
                <a:cs typeface="Times New Roman"/>
              </a:rPr>
              <a:t>ラリー攻略開始のトリガーとなる存在である「</a:t>
            </a:r>
            <a:r>
              <a:rPr lang="ja-JP" altLang="en-US" sz="1200">
                <a:solidFill>
                  <a:srgbClr val="FF0000"/>
                </a:solidFill>
                <a:latin typeface="+mn-ea"/>
                <a:ea typeface="+mn-ea"/>
                <a:cs typeface="Times New Roman"/>
              </a:rPr>
              <a:t>進行管理</a:t>
            </a:r>
            <a:r>
              <a:rPr lang="ja-JP" altLang="en-US" sz="1200">
                <a:latin typeface="+mn-ea"/>
                <a:ea typeface="+mn-ea"/>
                <a:cs typeface="Times New Roman"/>
              </a:rPr>
              <a:t>」</a:t>
            </a:r>
            <a:r>
              <a:rPr lang="ja-JP" sz="1200">
                <a:latin typeface="+mn-ea"/>
                <a:ea typeface="+mn-ea"/>
                <a:cs typeface="Times New Roman"/>
              </a:rPr>
              <a:t>パッケージ</a:t>
            </a:r>
            <a:r>
              <a:rPr lang="ja-JP" altLang="en-US" sz="1200">
                <a:latin typeface="+mn-ea"/>
                <a:ea typeface="+mn-ea"/>
                <a:cs typeface="Times New Roman"/>
              </a:rPr>
              <a:t>、</a:t>
            </a:r>
            <a:r>
              <a:rPr lang="ja-JP" sz="1200">
                <a:latin typeface="+mn-ea"/>
                <a:ea typeface="+mn-ea"/>
                <a:cs typeface="Times New Roman"/>
              </a:rPr>
              <a:t>クラス間にわたって利用される定数や定義された構造体等のデータ群を管理する「</a:t>
            </a:r>
            <a:r>
              <a:rPr lang="ja-JP" sz="1200">
                <a:solidFill>
                  <a:srgbClr val="FF0000"/>
                </a:solidFill>
                <a:latin typeface="+mn-ea"/>
                <a:ea typeface="+mn-ea"/>
                <a:cs typeface="Times New Roman"/>
              </a:rPr>
              <a:t>共有データ</a:t>
            </a:r>
            <a:r>
              <a:rPr lang="ja-JP" sz="1200">
                <a:latin typeface="+mn-ea"/>
                <a:ea typeface="+mn-ea"/>
                <a:cs typeface="Times New Roman"/>
              </a:rPr>
              <a:t>」パッケージを追加している。上流から下流にかけてタスクを分担し逆流を防ぐ管理することでパッケージ間の責務を分離し責任の</a:t>
            </a:r>
            <a:r>
              <a:rPr lang="ja-JP" altLang="en-US" sz="1200">
                <a:latin typeface="+mn-ea"/>
                <a:ea typeface="+mn-ea"/>
                <a:cs typeface="Times New Roman"/>
              </a:rPr>
              <a:t>所在</a:t>
            </a:r>
            <a:r>
              <a:rPr lang="ja-JP" sz="1200">
                <a:latin typeface="+mn-ea"/>
                <a:ea typeface="+mn-ea"/>
                <a:cs typeface="Times New Roman"/>
              </a:rPr>
              <a:t>を明確にしている</a:t>
            </a:r>
            <a:r>
              <a:rPr lang="ja-JP" altLang="en-US" sz="1200">
                <a:latin typeface="+mn-ea"/>
                <a:ea typeface="+mn-ea"/>
                <a:cs typeface="Times New Roman"/>
              </a:rPr>
              <a:t>。</a:t>
            </a:r>
            <a:r>
              <a:rPr lang="ja-JP" altLang="en-US" sz="1200">
                <a:solidFill>
                  <a:srgbClr val="FFFFFF"/>
                </a:solidFill>
                <a:latin typeface="+mn-ea"/>
                <a:ea typeface="+mn-ea"/>
                <a:cs typeface="Times New Roman"/>
              </a:rPr>
              <a:t>。</a:t>
            </a:r>
            <a:r>
              <a:rPr lang="ja-JP" sz="1200">
                <a:solidFill>
                  <a:srgbClr val="FFFFFF"/>
                </a:solidFill>
                <a:latin typeface="+mn-ea"/>
                <a:ea typeface="+mn-ea"/>
                <a:cs typeface="Times New Roman"/>
              </a:rPr>
              <a:t>パ</a:t>
            </a:r>
            <a:endParaRPr lang="ja-JP" sz="1200">
              <a:latin typeface="+mn-ea"/>
              <a:ea typeface="+mn-ea"/>
            </a:endParaRPr>
          </a:p>
        </p:txBody>
      </p:sp>
      <p:sp>
        <p:nvSpPr>
          <p:cNvPr id="3" name="テキスト ボックス 2">
            <a:extLst>
              <a:ext uri="{FF2B5EF4-FFF2-40B4-BE49-F238E27FC236}">
                <a16:creationId xmlns:a16="http://schemas.microsoft.com/office/drawing/2014/main" id="{9A5C3726-BA2F-9A9F-4CE2-C4BAB727C985}"/>
              </a:ext>
            </a:extLst>
          </p:cNvPr>
          <p:cNvSpPr txBox="1"/>
          <p:nvPr/>
        </p:nvSpPr>
        <p:spPr>
          <a:xfrm>
            <a:off x="5478947" y="1476581"/>
            <a:ext cx="939762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tLang="ja-JP" sz="2400" b="1">
                <a:solidFill>
                  <a:schemeClr val="accent5">
                    <a:lumMod val="75000"/>
                  </a:schemeClr>
                </a:solidFill>
                <a:latin typeface="+mn-ea"/>
                <a:ea typeface="+mn-ea"/>
                <a:cs typeface="Times New Roman"/>
              </a:rPr>
              <a:t>2</a:t>
            </a:r>
            <a:r>
              <a:rPr lang="ja-JP" altLang="en-US" sz="2400" b="1">
                <a:solidFill>
                  <a:schemeClr val="accent5">
                    <a:lumMod val="75000"/>
                  </a:schemeClr>
                </a:solidFill>
                <a:latin typeface="+mn-ea"/>
                <a:ea typeface="+mn-ea"/>
                <a:cs typeface="Times New Roman"/>
              </a:rPr>
              <a:t>.3クラス図</a:t>
            </a:r>
          </a:p>
          <a:p>
            <a:endParaRPr lang="en-US" altLang="ja-JP" sz="1200">
              <a:latin typeface="+mn-ea"/>
              <a:ea typeface="+mn-ea"/>
              <a:cs typeface="Times New Roman"/>
            </a:endParaRPr>
          </a:p>
          <a:p>
            <a:r>
              <a:rPr lang="ja-JP" sz="1200">
                <a:latin typeface="+mn-ea"/>
                <a:ea typeface="+mn-ea"/>
                <a:cs typeface="Times New Roman"/>
              </a:rPr>
              <a:t>パッケージ構造をもとに作成したクラス図を図</a:t>
            </a:r>
            <a:r>
              <a:rPr lang="en-US" altLang="ja-JP" sz="1200">
                <a:latin typeface="+mn-ea"/>
                <a:ea typeface="+mn-ea"/>
                <a:cs typeface="Times New Roman"/>
              </a:rPr>
              <a:t>2</a:t>
            </a:r>
            <a:r>
              <a:rPr lang="ja-JP" sz="1200">
                <a:latin typeface="+mn-ea"/>
                <a:ea typeface="+mn-ea"/>
                <a:cs typeface="Times New Roman"/>
              </a:rPr>
              <a:t>.2に記載した。可読性を高めるために共有データパッケージ内のクラスの関連は省略している。ライントレース走行やラインの色判定などクラス特有のデータ構造に関してはそのパッケージ内に書き記している。LコースかRコースかなど様々なクラスに影響を与えるデータ</a:t>
            </a:r>
            <a:r>
              <a:rPr lang="ja-JP" altLang="en-US" sz="1200">
                <a:latin typeface="+mn-ea"/>
                <a:ea typeface="+mn-ea"/>
                <a:cs typeface="Times New Roman"/>
              </a:rPr>
              <a:t>の参照や修正を簡易化するために</a:t>
            </a:r>
            <a:r>
              <a:rPr lang="ja-JP" sz="1200">
                <a:latin typeface="+mn-ea"/>
                <a:ea typeface="+mn-ea"/>
                <a:cs typeface="Times New Roman"/>
              </a:rPr>
              <a:t>共有データパッケージ</a:t>
            </a:r>
            <a:r>
              <a:rPr lang="ja-JP" altLang="en-US" sz="1200">
                <a:latin typeface="+mn-ea"/>
                <a:ea typeface="+mn-ea"/>
                <a:cs typeface="Times New Roman"/>
              </a:rPr>
              <a:t>を作成しそこにデータを集約する構図にした</a:t>
            </a:r>
            <a:r>
              <a:rPr lang="ja-JP" sz="1200">
                <a:latin typeface="+mn-ea"/>
                <a:ea typeface="+mn-ea"/>
                <a:cs typeface="Times New Roman"/>
              </a:rPr>
              <a:t>。</a:t>
            </a:r>
          </a:p>
          <a:p>
            <a:r>
              <a:rPr lang="ja-JP" altLang="en-US" sz="1200">
                <a:latin typeface="+mn-ea"/>
                <a:ea typeface="+mn-ea"/>
                <a:cs typeface="Times New Roman"/>
              </a:rPr>
              <a:t>ラリー攻略クラスやライントレース走行クラスのからの指示を走行体制御クラスが引き受けてデバイスを操作することでデバイス管理の責務を明確化している。</a:t>
            </a:r>
          </a:p>
        </p:txBody>
      </p:sp>
      <p:sp>
        <p:nvSpPr>
          <p:cNvPr id="30" name="四角形: 角を丸くする 29">
            <a:extLst>
              <a:ext uri="{FF2B5EF4-FFF2-40B4-BE49-F238E27FC236}">
                <a16:creationId xmlns:a16="http://schemas.microsoft.com/office/drawing/2014/main" id="{F6962BD5-0AA6-CBF5-CC11-8893210E9164}"/>
              </a:ext>
            </a:extLst>
          </p:cNvPr>
          <p:cNvSpPr/>
          <p:nvPr/>
        </p:nvSpPr>
        <p:spPr>
          <a:xfrm>
            <a:off x="2663131" y="201528"/>
            <a:ext cx="2592288" cy="949677"/>
          </a:xfrm>
          <a:prstGeom prst="roundRect">
            <a:avLst/>
          </a:prstGeom>
          <a:solidFill>
            <a:schemeClr val="accent5">
              <a:lumMod val="60000"/>
              <a:lumOff val="4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構造モデル</a:t>
            </a:r>
          </a:p>
        </p:txBody>
      </p:sp>
      <p:sp>
        <p:nvSpPr>
          <p:cNvPr id="32" name="四角形: 角を丸くする 31">
            <a:extLst>
              <a:ext uri="{FF2B5EF4-FFF2-40B4-BE49-F238E27FC236}">
                <a16:creationId xmlns:a16="http://schemas.microsoft.com/office/drawing/2014/main" id="{F4AD60CF-8ED5-291A-76E8-F0872A8C6CF0}"/>
              </a:ext>
            </a:extLst>
          </p:cNvPr>
          <p:cNvSpPr/>
          <p:nvPr/>
        </p:nvSpPr>
        <p:spPr>
          <a:xfrm>
            <a:off x="5255419" y="205537"/>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t>振舞いモデル</a:t>
            </a:r>
            <a:r>
              <a:rPr lang="en-US" altLang="ja-JP" sz="2800"/>
              <a:t>1</a:t>
            </a:r>
            <a:endParaRPr kumimoji="1" lang="ja-JP" altLang="en-US" sz="2800"/>
          </a:p>
        </p:txBody>
      </p:sp>
      <p:sp>
        <p:nvSpPr>
          <p:cNvPr id="34" name="四角形: 角を丸くする 33">
            <a:extLst>
              <a:ext uri="{FF2B5EF4-FFF2-40B4-BE49-F238E27FC236}">
                <a16:creationId xmlns:a16="http://schemas.microsoft.com/office/drawing/2014/main" id="{BDDDD4A5-C94C-8878-E9D1-FA51E01FE956}"/>
              </a:ext>
            </a:extLst>
          </p:cNvPr>
          <p:cNvSpPr/>
          <p:nvPr/>
        </p:nvSpPr>
        <p:spPr>
          <a:xfrm>
            <a:off x="7839154" y="201529"/>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800"/>
              <a:t>振舞いモデル</a:t>
            </a:r>
            <a:r>
              <a:rPr lang="en-US" altLang="ja-JP" sz="2800"/>
              <a:t>2</a:t>
            </a:r>
            <a:endParaRPr lang="ja-JP" altLang="en-US" sz="2800"/>
          </a:p>
        </p:txBody>
      </p:sp>
      <p:pic>
        <p:nvPicPr>
          <p:cNvPr id="36" name="図 35">
            <a:extLst>
              <a:ext uri="{FF2B5EF4-FFF2-40B4-BE49-F238E27FC236}">
                <a16:creationId xmlns:a16="http://schemas.microsoft.com/office/drawing/2014/main" id="{72327AC1-54E3-2CB1-395A-22B11F25A5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25123" y="76315"/>
            <a:ext cx="4731647" cy="1050698"/>
          </a:xfrm>
          <a:prstGeom prst="rect">
            <a:avLst/>
          </a:prstGeom>
        </p:spPr>
      </p:pic>
      <p:sp>
        <p:nvSpPr>
          <p:cNvPr id="40" name="四角形: 角を丸くする 39">
            <a:extLst>
              <a:ext uri="{FF2B5EF4-FFF2-40B4-BE49-F238E27FC236}">
                <a16:creationId xmlns:a16="http://schemas.microsoft.com/office/drawing/2014/main" id="{B22C2E2E-3E3B-704C-DD16-360FA68E0EF4}"/>
              </a:ext>
            </a:extLst>
          </p:cNvPr>
          <p:cNvSpPr/>
          <p:nvPr/>
        </p:nvSpPr>
        <p:spPr>
          <a:xfrm>
            <a:off x="79396" y="185666"/>
            <a:ext cx="2592288" cy="949677"/>
          </a:xfrm>
          <a:prstGeom prst="roundRect">
            <a:avLst/>
          </a:prstGeom>
          <a:solidFill>
            <a:schemeClr val="accent5">
              <a:lumMod val="75000"/>
            </a:schemeClr>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機能モデル</a:t>
            </a:r>
          </a:p>
        </p:txBody>
      </p:sp>
      <p:sp>
        <p:nvSpPr>
          <p:cNvPr id="38" name="正方形/長方形 37">
            <a:extLst>
              <a:ext uri="{FF2B5EF4-FFF2-40B4-BE49-F238E27FC236}">
                <a16:creationId xmlns:a16="http://schemas.microsoft.com/office/drawing/2014/main" id="{365FDC48-41A8-B813-EB0A-602430269AD0}"/>
              </a:ext>
            </a:extLst>
          </p:cNvPr>
          <p:cNvSpPr/>
          <p:nvPr/>
        </p:nvSpPr>
        <p:spPr>
          <a:xfrm>
            <a:off x="-433213" y="1017662"/>
            <a:ext cx="17569952" cy="29880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09020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97730-CC86-E29B-BC2C-09E35F29211A}"/>
            </a:ext>
          </a:extLst>
        </p:cNvPr>
        <p:cNvGrpSpPr/>
        <p:nvPr/>
      </p:nvGrpSpPr>
      <p:grpSpPr>
        <a:xfrm>
          <a:off x="0" y="0"/>
          <a:ext cx="0" cy="0"/>
          <a:chOff x="0" y="0"/>
          <a:chExt cx="0" cy="0"/>
        </a:xfrm>
      </p:grpSpPr>
      <p:sp>
        <p:nvSpPr>
          <p:cNvPr id="32" name="四角形: 角を丸くする 31">
            <a:extLst>
              <a:ext uri="{FF2B5EF4-FFF2-40B4-BE49-F238E27FC236}">
                <a16:creationId xmlns:a16="http://schemas.microsoft.com/office/drawing/2014/main" id="{06A45A60-8242-7A23-1255-D1771854D974}"/>
              </a:ext>
            </a:extLst>
          </p:cNvPr>
          <p:cNvSpPr/>
          <p:nvPr/>
        </p:nvSpPr>
        <p:spPr>
          <a:xfrm>
            <a:off x="79396" y="185666"/>
            <a:ext cx="2592288" cy="949677"/>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機能モデル</a:t>
            </a:r>
          </a:p>
        </p:txBody>
      </p:sp>
      <p:sp>
        <p:nvSpPr>
          <p:cNvPr id="9" name="テキスト ボックス 8">
            <a:extLst>
              <a:ext uri="{FF2B5EF4-FFF2-40B4-BE49-F238E27FC236}">
                <a16:creationId xmlns:a16="http://schemas.microsoft.com/office/drawing/2014/main" id="{1F67F26C-B8A7-F5D6-8BE2-7FE6D1C9356F}"/>
              </a:ext>
            </a:extLst>
          </p:cNvPr>
          <p:cNvSpPr txBox="1"/>
          <p:nvPr/>
        </p:nvSpPr>
        <p:spPr>
          <a:xfrm>
            <a:off x="17380980" y="7020347"/>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200">
                <a:latin typeface="Times New Roman"/>
                <a:ea typeface="ＭＳ Ｐゴシック"/>
                <a:cs typeface="Times New Roman"/>
              </a:rPr>
              <a:t>図3.2 基準角設定フェーズ</a:t>
            </a:r>
          </a:p>
        </p:txBody>
      </p:sp>
      <p:sp>
        <p:nvSpPr>
          <p:cNvPr id="11" name="テキスト ボックス 10">
            <a:extLst>
              <a:ext uri="{FF2B5EF4-FFF2-40B4-BE49-F238E27FC236}">
                <a16:creationId xmlns:a16="http://schemas.microsoft.com/office/drawing/2014/main" id="{4D9FDCB6-13A0-E05B-9A30-A8F055BFE44A}"/>
              </a:ext>
            </a:extLst>
          </p:cNvPr>
          <p:cNvSpPr txBox="1"/>
          <p:nvPr/>
        </p:nvSpPr>
        <p:spPr>
          <a:xfrm>
            <a:off x="17683333" y="4495532"/>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200">
                <a:latin typeface="Times New Roman"/>
                <a:ea typeface="ＭＳ Ｐゴシック"/>
                <a:cs typeface="Times New Roman"/>
              </a:rPr>
              <a:t>図3.3 格子点移動フェーズ</a:t>
            </a:r>
            <a:endParaRPr lang="ja-JP" altLang="en-US" sz="1200">
              <a:cs typeface="Times New Roman"/>
            </a:endParaRPr>
          </a:p>
        </p:txBody>
      </p:sp>
      <p:sp>
        <p:nvSpPr>
          <p:cNvPr id="15" name="テキスト ボックス 14">
            <a:extLst>
              <a:ext uri="{FF2B5EF4-FFF2-40B4-BE49-F238E27FC236}">
                <a16:creationId xmlns:a16="http://schemas.microsoft.com/office/drawing/2014/main" id="{97A13529-E17C-E9EA-5D94-D250848CF284}"/>
              </a:ext>
            </a:extLst>
          </p:cNvPr>
          <p:cNvSpPr txBox="1"/>
          <p:nvPr/>
        </p:nvSpPr>
        <p:spPr>
          <a:xfrm>
            <a:off x="16342387" y="1922557"/>
            <a:ext cx="20930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200">
                <a:latin typeface="Times New Roman"/>
                <a:ea typeface="ＭＳ Ｐゴシック"/>
                <a:cs typeface="Times New Roman"/>
              </a:rPr>
              <a:t>図3.4 </a:t>
            </a:r>
            <a:r>
              <a:rPr lang="ja-JP" sz="1200">
                <a:latin typeface="Times New Roman"/>
                <a:ea typeface="ＭＳ Ｐゴシック"/>
                <a:cs typeface="Times New Roman"/>
              </a:rPr>
              <a:t>終了フェーズ</a:t>
            </a:r>
            <a:endParaRPr lang="ja-JP" altLang="en-US" sz="1200">
              <a:cs typeface="Times New Roman"/>
            </a:endParaRPr>
          </a:p>
        </p:txBody>
      </p:sp>
      <p:sp>
        <p:nvSpPr>
          <p:cNvPr id="19" name="テキスト ボックス 18">
            <a:extLst>
              <a:ext uri="{FF2B5EF4-FFF2-40B4-BE49-F238E27FC236}">
                <a16:creationId xmlns:a16="http://schemas.microsoft.com/office/drawing/2014/main" id="{11820D38-A589-DC8D-9F1B-FFDAF4F8F88F}"/>
              </a:ext>
            </a:extLst>
          </p:cNvPr>
          <p:cNvSpPr txBox="1"/>
          <p:nvPr/>
        </p:nvSpPr>
        <p:spPr>
          <a:xfrm>
            <a:off x="18077157" y="5699158"/>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200">
                <a:latin typeface="Times New Roman"/>
                <a:ea typeface="ＭＳ Ｐゴシック"/>
                <a:cs typeface="Times New Roman"/>
              </a:rPr>
              <a:t>図3.1 全体の概要</a:t>
            </a:r>
          </a:p>
        </p:txBody>
      </p:sp>
      <p:sp>
        <p:nvSpPr>
          <p:cNvPr id="23" name="コンテンツ プレースホルダー 2">
            <a:extLst>
              <a:ext uri="{FF2B5EF4-FFF2-40B4-BE49-F238E27FC236}">
                <a16:creationId xmlns:a16="http://schemas.microsoft.com/office/drawing/2014/main" id="{2318756A-84BE-5234-54F1-B392C34BCE6A}"/>
              </a:ext>
            </a:extLst>
          </p:cNvPr>
          <p:cNvSpPr>
            <a:spLocks noGrp="1"/>
          </p:cNvSpPr>
          <p:nvPr/>
        </p:nvSpPr>
        <p:spPr>
          <a:xfrm>
            <a:off x="212715" y="1667298"/>
            <a:ext cx="3140368" cy="19166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b="1">
                <a:solidFill>
                  <a:schemeClr val="accent5">
                    <a:lumMod val="75000"/>
                  </a:schemeClr>
                </a:solidFill>
                <a:latin typeface="+mn-ea"/>
                <a:cs typeface="+mn-lt"/>
              </a:rPr>
              <a:t>3.1 </a:t>
            </a:r>
            <a:r>
              <a:rPr lang="ja-JP" altLang="en-US" sz="2400" b="1">
                <a:solidFill>
                  <a:schemeClr val="accent5">
                    <a:lumMod val="75000"/>
                  </a:schemeClr>
                </a:solidFill>
                <a:latin typeface="+mn-ea"/>
                <a:cs typeface="+mn-lt"/>
              </a:rPr>
              <a:t>全体の振る舞い</a:t>
            </a:r>
            <a:endParaRPr lang="en-US" altLang="ja-JP" sz="2400" b="1">
              <a:solidFill>
                <a:schemeClr val="accent5">
                  <a:lumMod val="75000"/>
                </a:schemeClr>
              </a:solidFill>
              <a:latin typeface="+mn-ea"/>
              <a:cs typeface="+mn-lt"/>
            </a:endParaRPr>
          </a:p>
          <a:p>
            <a:pPr marL="0" indent="0">
              <a:buNone/>
            </a:pPr>
            <a:r>
              <a:rPr lang="ja-JP" altLang="en-US" sz="1800">
                <a:latin typeface="游ゴシック"/>
                <a:ea typeface="游ゴシック"/>
                <a:cs typeface="+mn-lt"/>
              </a:rPr>
              <a:t>機能モデルで作成したユースケース図を基に課題全体の流れをアクティビティ図</a:t>
            </a:r>
            <a:r>
              <a:rPr lang="en-US" altLang="ja-JP" sz="1800">
                <a:latin typeface="游ゴシック"/>
                <a:ea typeface="游ゴシック"/>
                <a:cs typeface="+mn-lt"/>
              </a:rPr>
              <a:t>(</a:t>
            </a:r>
            <a:r>
              <a:rPr lang="ja-JP" altLang="en-US" sz="1800">
                <a:latin typeface="游ゴシック"/>
                <a:ea typeface="游ゴシック"/>
                <a:cs typeface="+mn-lt"/>
              </a:rPr>
              <a:t>図</a:t>
            </a:r>
            <a:r>
              <a:rPr lang="en-US" altLang="ja-JP" sz="1800">
                <a:latin typeface="游ゴシック"/>
                <a:ea typeface="游ゴシック"/>
                <a:cs typeface="+mn-lt"/>
              </a:rPr>
              <a:t>3.1)</a:t>
            </a:r>
            <a:r>
              <a:rPr lang="ja-JP" altLang="en-US" sz="1800">
                <a:latin typeface="游ゴシック"/>
                <a:ea typeface="游ゴシック"/>
                <a:cs typeface="+mn-lt"/>
              </a:rPr>
              <a:t>で示す。</a:t>
            </a:r>
            <a:endParaRPr lang="ja-JP" altLang="en-US" sz="1800">
              <a:latin typeface="游ゴシック"/>
              <a:ea typeface="游ゴシック"/>
            </a:endParaRPr>
          </a:p>
        </p:txBody>
      </p:sp>
      <p:pic>
        <p:nvPicPr>
          <p:cNvPr id="12" name="グラフィックス 11">
            <a:extLst>
              <a:ext uri="{FF2B5EF4-FFF2-40B4-BE49-F238E27FC236}">
                <a16:creationId xmlns:a16="http://schemas.microsoft.com/office/drawing/2014/main" id="{26641D08-4CF9-4E3B-9E20-B5DF7BD342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497880" y="1393661"/>
            <a:ext cx="5378577" cy="8158279"/>
          </a:xfrm>
          <a:prstGeom prst="rect">
            <a:avLst/>
          </a:prstGeom>
        </p:spPr>
      </p:pic>
      <p:pic>
        <p:nvPicPr>
          <p:cNvPr id="16" name="グラフィックス 15">
            <a:extLst>
              <a:ext uri="{FF2B5EF4-FFF2-40B4-BE49-F238E27FC236}">
                <a16:creationId xmlns:a16="http://schemas.microsoft.com/office/drawing/2014/main" id="{570E4D45-3E97-D7BE-7645-696EE44832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60759" y="1428604"/>
            <a:ext cx="5607444" cy="6604354"/>
          </a:xfrm>
          <a:prstGeom prst="rect">
            <a:avLst/>
          </a:prstGeom>
        </p:spPr>
      </p:pic>
      <p:pic>
        <p:nvPicPr>
          <p:cNvPr id="4" name="図 3">
            <a:extLst>
              <a:ext uri="{FF2B5EF4-FFF2-40B4-BE49-F238E27FC236}">
                <a16:creationId xmlns:a16="http://schemas.microsoft.com/office/drawing/2014/main" id="{D3E8B440-1D1D-FDED-76A3-88F57E39A960}"/>
              </a:ext>
            </a:extLst>
          </p:cNvPr>
          <p:cNvPicPr>
            <a:picLocks noChangeAspect="1"/>
          </p:cNvPicPr>
          <p:nvPr/>
        </p:nvPicPr>
        <p:blipFill>
          <a:blip r:embed="rId4">
            <a:extLst>
              <a:ext uri="{28A0092B-C50C-407E-A947-70E740481C1C}">
                <a14:useLocalDpi xmlns:a14="http://schemas.microsoft.com/office/drawing/2010/main" val="0"/>
              </a:ext>
            </a:extLst>
          </a:blip>
          <a:srcRect l="4876" t="7495" r="10946" b="48334"/>
          <a:stretch>
            <a:fillRect/>
          </a:stretch>
        </p:blipFill>
        <p:spPr>
          <a:xfrm>
            <a:off x="169378" y="8082210"/>
            <a:ext cx="9041168" cy="2498389"/>
          </a:xfrm>
          <a:prstGeom prst="rect">
            <a:avLst/>
          </a:prstGeom>
        </p:spPr>
      </p:pic>
      <p:sp>
        <p:nvSpPr>
          <p:cNvPr id="5" name="テキスト ボックス 4">
            <a:extLst>
              <a:ext uri="{FF2B5EF4-FFF2-40B4-BE49-F238E27FC236}">
                <a16:creationId xmlns:a16="http://schemas.microsoft.com/office/drawing/2014/main" id="{C3F89D72-60A6-31D2-0DEE-80869A259741}"/>
              </a:ext>
            </a:extLst>
          </p:cNvPr>
          <p:cNvSpPr txBox="1"/>
          <p:nvPr/>
        </p:nvSpPr>
        <p:spPr>
          <a:xfrm>
            <a:off x="569601" y="7710415"/>
            <a:ext cx="2808782" cy="369332"/>
          </a:xfrm>
          <a:prstGeom prst="rect">
            <a:avLst/>
          </a:prstGeom>
          <a:noFill/>
        </p:spPr>
        <p:txBody>
          <a:bodyPr wrap="none" lIns="91440" tIns="45720" rIns="91440" bIns="45720" rtlCol="0">
            <a:spAutoFit/>
          </a:bodyPr>
          <a:lstStyle/>
          <a:p>
            <a:r>
              <a:rPr lang="ja-JP" altLang="en-US" sz="1800">
                <a:latin typeface="+mn-ea"/>
                <a:ea typeface="+mn-ea"/>
                <a:cs typeface="Times New Roman"/>
              </a:rPr>
              <a:t>↓図</a:t>
            </a:r>
            <a:r>
              <a:rPr lang="en-US" altLang="ja-JP" sz="1800">
                <a:latin typeface="+mn-ea"/>
                <a:ea typeface="+mn-ea"/>
                <a:cs typeface="Times New Roman"/>
              </a:rPr>
              <a:t>3</a:t>
            </a:r>
            <a:r>
              <a:rPr lang="ja-JP" altLang="en-US" sz="1800">
                <a:latin typeface="+mn-ea"/>
                <a:ea typeface="+mn-ea"/>
                <a:cs typeface="Times New Roman"/>
              </a:rPr>
              <a:t>.</a:t>
            </a:r>
            <a:r>
              <a:rPr lang="en-US" altLang="ja-JP" sz="1800">
                <a:latin typeface="+mn-ea"/>
                <a:ea typeface="+mn-ea"/>
                <a:cs typeface="Times New Roman"/>
              </a:rPr>
              <a:t>1</a:t>
            </a:r>
            <a:r>
              <a:rPr lang="ja-JP" altLang="en-US" sz="1800">
                <a:latin typeface="+mn-ea"/>
                <a:ea typeface="+mn-ea"/>
                <a:cs typeface="Times New Roman"/>
              </a:rPr>
              <a:t>アクティビティ図</a:t>
            </a:r>
            <a:endParaRPr kumimoji="1" lang="ja-JP" altLang="en-US" sz="1800">
              <a:latin typeface="+mn-ea"/>
              <a:ea typeface="+mn-ea"/>
              <a:cs typeface="Times New Roman"/>
            </a:endParaRPr>
          </a:p>
        </p:txBody>
      </p:sp>
      <p:sp>
        <p:nvSpPr>
          <p:cNvPr id="6" name="テキスト ボックス 5">
            <a:extLst>
              <a:ext uri="{FF2B5EF4-FFF2-40B4-BE49-F238E27FC236}">
                <a16:creationId xmlns:a16="http://schemas.microsoft.com/office/drawing/2014/main" id="{D17ACE55-8049-0464-45A9-E470582BBC03}"/>
              </a:ext>
            </a:extLst>
          </p:cNvPr>
          <p:cNvSpPr txBox="1"/>
          <p:nvPr/>
        </p:nvSpPr>
        <p:spPr>
          <a:xfrm>
            <a:off x="9692922" y="9751399"/>
            <a:ext cx="5347939" cy="369332"/>
          </a:xfrm>
          <a:prstGeom prst="rect">
            <a:avLst/>
          </a:prstGeom>
          <a:noFill/>
        </p:spPr>
        <p:txBody>
          <a:bodyPr wrap="none" lIns="91440" tIns="45720" rIns="91440" bIns="45720" rtlCol="0">
            <a:spAutoFit/>
          </a:bodyPr>
          <a:lstStyle/>
          <a:p>
            <a:r>
              <a:rPr kumimoji="1" lang="ja-JP" altLang="en-US" sz="1800">
                <a:latin typeface="+mn-ea"/>
                <a:ea typeface="+mn-ea"/>
                <a:cs typeface="Times New Roman"/>
              </a:rPr>
              <a:t>↑図</a:t>
            </a:r>
            <a:r>
              <a:rPr lang="en-US" altLang="ja-JP" sz="1800">
                <a:latin typeface="+mn-ea"/>
                <a:ea typeface="+mn-ea"/>
                <a:cs typeface="Times New Roman"/>
              </a:rPr>
              <a:t>3.3</a:t>
            </a:r>
            <a:r>
              <a:rPr kumimoji="1" lang="ja-JP" altLang="en-US" sz="1800">
                <a:latin typeface="+mn-ea"/>
                <a:ea typeface="+mn-ea"/>
                <a:cs typeface="Times New Roman"/>
              </a:rPr>
              <a:t>格子点移動フェーズにおけるシーケンス図</a:t>
            </a:r>
          </a:p>
        </p:txBody>
      </p:sp>
      <p:sp>
        <p:nvSpPr>
          <p:cNvPr id="7" name="テキスト ボックス 6">
            <a:extLst>
              <a:ext uri="{FF2B5EF4-FFF2-40B4-BE49-F238E27FC236}">
                <a16:creationId xmlns:a16="http://schemas.microsoft.com/office/drawing/2014/main" id="{697D3A17-8380-085C-52CD-8CA64418CB15}"/>
              </a:ext>
            </a:extLst>
          </p:cNvPr>
          <p:cNvSpPr txBox="1"/>
          <p:nvPr/>
        </p:nvSpPr>
        <p:spPr>
          <a:xfrm>
            <a:off x="156700" y="6378440"/>
            <a:ext cx="3192846" cy="923330"/>
          </a:xfrm>
          <a:prstGeom prst="rect">
            <a:avLst/>
          </a:prstGeom>
          <a:noFill/>
        </p:spPr>
        <p:txBody>
          <a:bodyPr wrap="square" lIns="91440" tIns="45720" rIns="91440" bIns="45720" rtlCol="0">
            <a:spAutoFit/>
          </a:bodyPr>
          <a:lstStyle/>
          <a:p>
            <a:r>
              <a:rPr lang="ja-JP" altLang="en-US" sz="1800">
                <a:latin typeface="+mn-ea"/>
                <a:ea typeface="+mn-ea"/>
                <a:cs typeface="Times New Roman"/>
              </a:rPr>
              <a:t>図</a:t>
            </a:r>
            <a:r>
              <a:rPr lang="en-US" altLang="ja-JP" sz="1800">
                <a:latin typeface="+mn-ea"/>
                <a:ea typeface="+mn-ea"/>
                <a:cs typeface="Times New Roman"/>
              </a:rPr>
              <a:t>3</a:t>
            </a:r>
            <a:r>
              <a:rPr lang="ja-JP" altLang="en-US" sz="1800">
                <a:latin typeface="+mn-ea"/>
                <a:ea typeface="+mn-ea"/>
                <a:cs typeface="Times New Roman"/>
              </a:rPr>
              <a:t>.</a:t>
            </a:r>
            <a:r>
              <a:rPr lang="en-US" altLang="ja-JP" sz="1800">
                <a:latin typeface="+mn-ea"/>
                <a:ea typeface="+mn-ea"/>
                <a:cs typeface="Times New Roman"/>
              </a:rPr>
              <a:t>2</a:t>
            </a:r>
            <a:r>
              <a:rPr lang="ja-JP" altLang="en-US" sz="1800">
                <a:latin typeface="+mn-ea"/>
                <a:ea typeface="+mn-ea"/>
                <a:cs typeface="Times New Roman"/>
              </a:rPr>
              <a:t>→</a:t>
            </a:r>
            <a:endParaRPr lang="en-US" altLang="ja-JP" sz="1800">
              <a:latin typeface="+mn-ea"/>
              <a:ea typeface="+mn-ea"/>
              <a:cs typeface="Times New Roman"/>
            </a:endParaRPr>
          </a:p>
          <a:p>
            <a:r>
              <a:rPr lang="ja-JP" altLang="en-US" sz="1800">
                <a:latin typeface="游ゴシック"/>
                <a:ea typeface="游ゴシック"/>
                <a:cs typeface="Times New Roman"/>
              </a:rPr>
              <a:t>基準角設定フェーズにおける</a:t>
            </a:r>
            <a:br>
              <a:rPr lang="ja-JP" altLang="en-US" sz="1800">
                <a:latin typeface="游ゴシック"/>
                <a:ea typeface="游ゴシック"/>
                <a:cs typeface="Times New Roman"/>
              </a:rPr>
            </a:br>
            <a:r>
              <a:rPr lang="ja-JP" altLang="en-US" sz="1800">
                <a:latin typeface="游ゴシック"/>
                <a:ea typeface="游ゴシック"/>
                <a:cs typeface="Times New Roman"/>
              </a:rPr>
              <a:t>シーケンス図</a:t>
            </a:r>
            <a:endParaRPr lang="ja-JP" sz="1800">
              <a:latin typeface="游ゴシック"/>
              <a:ea typeface="游ゴシック"/>
              <a:cs typeface="Times New Roman"/>
            </a:endParaRPr>
          </a:p>
        </p:txBody>
      </p:sp>
      <p:sp>
        <p:nvSpPr>
          <p:cNvPr id="10" name="テキスト ボックス 9">
            <a:extLst>
              <a:ext uri="{FF2B5EF4-FFF2-40B4-BE49-F238E27FC236}">
                <a16:creationId xmlns:a16="http://schemas.microsoft.com/office/drawing/2014/main" id="{32BCAEEA-AC9D-AE63-BA06-E7E55DE86518}"/>
              </a:ext>
            </a:extLst>
          </p:cNvPr>
          <p:cNvSpPr txBox="1"/>
          <p:nvPr/>
        </p:nvSpPr>
        <p:spPr>
          <a:xfrm>
            <a:off x="167357" y="3420515"/>
            <a:ext cx="3693402" cy="1477328"/>
          </a:xfrm>
          <a:prstGeom prst="rect">
            <a:avLst/>
          </a:prstGeom>
          <a:noFill/>
        </p:spPr>
        <p:txBody>
          <a:bodyPr wrap="square" lIns="91440" tIns="45720" rIns="91440" bIns="45720" rtlCol="0">
            <a:spAutoFit/>
          </a:bodyPr>
          <a:lstStyle/>
          <a:p>
            <a:r>
              <a:rPr lang="en-US" altLang="ja-JP" sz="2400" b="1">
                <a:solidFill>
                  <a:schemeClr val="accent5">
                    <a:lumMod val="75000"/>
                  </a:schemeClr>
                </a:solidFill>
                <a:latin typeface="+mn-ea"/>
                <a:ea typeface="+mn-ea"/>
              </a:rPr>
              <a:t>3.2 </a:t>
            </a:r>
            <a:r>
              <a:rPr lang="ja-JP" altLang="en-US" sz="2400" b="1">
                <a:solidFill>
                  <a:schemeClr val="accent5">
                    <a:lumMod val="75000"/>
                  </a:schemeClr>
                </a:solidFill>
                <a:latin typeface="+mn-ea"/>
                <a:ea typeface="+mn-ea"/>
              </a:rPr>
              <a:t>各フェーズの振舞い</a:t>
            </a:r>
            <a:endParaRPr lang="en-US" altLang="ja-JP" sz="2400" b="1">
              <a:solidFill>
                <a:schemeClr val="accent5">
                  <a:lumMod val="75000"/>
                </a:schemeClr>
              </a:solidFill>
              <a:latin typeface="+mn-ea"/>
              <a:ea typeface="+mn-ea"/>
            </a:endParaRPr>
          </a:p>
          <a:p>
            <a:endParaRPr kumimoji="1" lang="en-US" altLang="ja-JP" sz="1200">
              <a:latin typeface="+mn-ea"/>
              <a:ea typeface="+mn-ea"/>
            </a:endParaRPr>
          </a:p>
          <a:p>
            <a:r>
              <a:rPr lang="ja-JP" altLang="en-US" sz="1800">
                <a:latin typeface="游ゴシック"/>
                <a:ea typeface="游ゴシック"/>
                <a:cs typeface="+mn-lt"/>
              </a:rPr>
              <a:t>各フェーズにおける処理の</a:t>
            </a:r>
          </a:p>
          <a:p>
            <a:r>
              <a:rPr lang="ja-JP" altLang="en-US" sz="1800">
                <a:latin typeface="游ゴシック"/>
                <a:ea typeface="游ゴシック"/>
                <a:cs typeface="+mn-lt"/>
              </a:rPr>
              <a:t>流れをシーケンス図</a:t>
            </a:r>
            <a:r>
              <a:rPr lang="en-US" altLang="ja-JP" sz="1800">
                <a:latin typeface="游ゴシック"/>
                <a:ea typeface="游ゴシック"/>
                <a:cs typeface="+mn-lt"/>
              </a:rPr>
              <a:t>(</a:t>
            </a:r>
            <a:r>
              <a:rPr lang="ja-JP" altLang="en-US" sz="1800">
                <a:latin typeface="游ゴシック"/>
                <a:ea typeface="游ゴシック"/>
                <a:cs typeface="+mn-lt"/>
              </a:rPr>
              <a:t>図</a:t>
            </a:r>
            <a:r>
              <a:rPr lang="en-US" altLang="ja-JP" sz="1800">
                <a:latin typeface="游ゴシック"/>
                <a:ea typeface="游ゴシック"/>
                <a:cs typeface="+mn-lt"/>
              </a:rPr>
              <a:t>3</a:t>
            </a:r>
            <a:r>
              <a:rPr lang="ja-JP" altLang="en-US" sz="1800">
                <a:latin typeface="游ゴシック"/>
                <a:ea typeface="游ゴシック"/>
                <a:cs typeface="+mn-lt"/>
              </a:rPr>
              <a:t>.1</a:t>
            </a:r>
          </a:p>
          <a:p>
            <a:r>
              <a:rPr lang="en-US" altLang="ja-JP" sz="1800">
                <a:latin typeface="游ゴシック"/>
                <a:ea typeface="游ゴシック"/>
                <a:cs typeface="+mn-lt"/>
              </a:rPr>
              <a:t>-</a:t>
            </a:r>
            <a:r>
              <a:rPr lang="ja-JP" altLang="en-US" sz="1800">
                <a:latin typeface="游ゴシック"/>
                <a:ea typeface="游ゴシック"/>
                <a:cs typeface="+mn-lt"/>
              </a:rPr>
              <a:t>図</a:t>
            </a:r>
            <a:r>
              <a:rPr lang="en-US" altLang="ja-JP" sz="1800">
                <a:latin typeface="游ゴシック"/>
                <a:ea typeface="游ゴシック"/>
                <a:cs typeface="+mn-lt"/>
              </a:rPr>
              <a:t>3</a:t>
            </a:r>
            <a:r>
              <a:rPr lang="ja-JP" altLang="en-US" sz="1800">
                <a:latin typeface="游ゴシック"/>
                <a:ea typeface="游ゴシック"/>
                <a:cs typeface="+mn-lt"/>
              </a:rPr>
              <a:t>.5</a:t>
            </a:r>
            <a:r>
              <a:rPr lang="en-US" altLang="ja-JP" sz="1800">
                <a:latin typeface="游ゴシック"/>
                <a:ea typeface="游ゴシック"/>
                <a:cs typeface="+mn-lt"/>
              </a:rPr>
              <a:t>)</a:t>
            </a:r>
            <a:r>
              <a:rPr lang="ja-JP" altLang="en-US" sz="1800">
                <a:latin typeface="游ゴシック"/>
                <a:ea typeface="游ゴシック"/>
                <a:cs typeface="+mn-lt"/>
              </a:rPr>
              <a:t>で表す。</a:t>
            </a:r>
            <a:endParaRPr lang="ja-JP" altLang="en-US" sz="1800">
              <a:latin typeface="游ゴシック"/>
              <a:ea typeface="游ゴシック"/>
            </a:endParaRPr>
          </a:p>
        </p:txBody>
      </p:sp>
      <p:sp>
        <p:nvSpPr>
          <p:cNvPr id="20" name="四角形: 角を丸くする 19">
            <a:extLst>
              <a:ext uri="{FF2B5EF4-FFF2-40B4-BE49-F238E27FC236}">
                <a16:creationId xmlns:a16="http://schemas.microsoft.com/office/drawing/2014/main" id="{36643332-D0AA-71ED-DE6A-47A02CDCBDF5}"/>
              </a:ext>
            </a:extLst>
          </p:cNvPr>
          <p:cNvSpPr/>
          <p:nvPr/>
        </p:nvSpPr>
        <p:spPr>
          <a:xfrm>
            <a:off x="2663131" y="201528"/>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構造モデル</a:t>
            </a:r>
          </a:p>
        </p:txBody>
      </p:sp>
      <p:sp>
        <p:nvSpPr>
          <p:cNvPr id="22" name="四角形: 角を丸くする 21">
            <a:extLst>
              <a:ext uri="{FF2B5EF4-FFF2-40B4-BE49-F238E27FC236}">
                <a16:creationId xmlns:a16="http://schemas.microsoft.com/office/drawing/2014/main" id="{517AB98B-B1D7-EACD-4A5C-1663FE471BF0}"/>
              </a:ext>
            </a:extLst>
          </p:cNvPr>
          <p:cNvSpPr/>
          <p:nvPr/>
        </p:nvSpPr>
        <p:spPr>
          <a:xfrm>
            <a:off x="5255419" y="205537"/>
            <a:ext cx="2592288" cy="949677"/>
          </a:xfrm>
          <a:prstGeom prst="roundRect">
            <a:avLst/>
          </a:prstGeom>
          <a:solidFill>
            <a:schemeClr val="accent5">
              <a:lumMod val="60000"/>
              <a:lumOff val="4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t>振る舞いモデル</a:t>
            </a:r>
            <a:r>
              <a:rPr kumimoji="1" lang="en-US" altLang="ja-JP" sz="2400"/>
              <a:t>1</a:t>
            </a:r>
            <a:endParaRPr kumimoji="1" lang="ja-JP" altLang="en-US" sz="2400"/>
          </a:p>
        </p:txBody>
      </p:sp>
      <p:sp>
        <p:nvSpPr>
          <p:cNvPr id="26" name="四角形: 角を丸くする 25">
            <a:extLst>
              <a:ext uri="{FF2B5EF4-FFF2-40B4-BE49-F238E27FC236}">
                <a16:creationId xmlns:a16="http://schemas.microsoft.com/office/drawing/2014/main" id="{D3396C87-399B-ACB5-FEB3-314D54B07334}"/>
              </a:ext>
            </a:extLst>
          </p:cNvPr>
          <p:cNvSpPr/>
          <p:nvPr/>
        </p:nvSpPr>
        <p:spPr>
          <a:xfrm>
            <a:off x="7839154" y="201529"/>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t>振る舞いモデル</a:t>
            </a:r>
            <a:r>
              <a:rPr lang="en-US" altLang="ja-JP" sz="2400"/>
              <a:t>2</a:t>
            </a:r>
            <a:endParaRPr kumimoji="1" lang="ja-JP" altLang="en-US" sz="2400"/>
          </a:p>
        </p:txBody>
      </p:sp>
      <p:pic>
        <p:nvPicPr>
          <p:cNvPr id="28" name="図 27">
            <a:extLst>
              <a:ext uri="{FF2B5EF4-FFF2-40B4-BE49-F238E27FC236}">
                <a16:creationId xmlns:a16="http://schemas.microsoft.com/office/drawing/2014/main" id="{42FBAF3F-C9BE-6818-E6F9-436C8982D4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25123" y="76315"/>
            <a:ext cx="4731647" cy="1050698"/>
          </a:xfrm>
          <a:prstGeom prst="rect">
            <a:avLst/>
          </a:prstGeom>
        </p:spPr>
      </p:pic>
      <p:sp>
        <p:nvSpPr>
          <p:cNvPr id="30" name="正方形/長方形 29">
            <a:extLst>
              <a:ext uri="{FF2B5EF4-FFF2-40B4-BE49-F238E27FC236}">
                <a16:creationId xmlns:a16="http://schemas.microsoft.com/office/drawing/2014/main" id="{3A18D1B0-1018-4E09-EE57-2A99E4AD2DD6}"/>
              </a:ext>
            </a:extLst>
          </p:cNvPr>
          <p:cNvSpPr/>
          <p:nvPr/>
        </p:nvSpPr>
        <p:spPr>
          <a:xfrm>
            <a:off x="-433213" y="1017662"/>
            <a:ext cx="17569952" cy="29880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7760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グラフィックス 7">
            <a:extLst>
              <a:ext uri="{FF2B5EF4-FFF2-40B4-BE49-F238E27FC236}">
                <a16:creationId xmlns:a16="http://schemas.microsoft.com/office/drawing/2014/main" id="{B6CF5DD0-187E-5156-E1C8-F82E0642C8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99835" y="1827345"/>
            <a:ext cx="5972363" cy="8225204"/>
          </a:xfrm>
          <a:prstGeom prst="rect">
            <a:avLst/>
          </a:prstGeom>
        </p:spPr>
      </p:pic>
      <p:sp>
        <p:nvSpPr>
          <p:cNvPr id="5" name="テキスト ボックス 4">
            <a:extLst>
              <a:ext uri="{FF2B5EF4-FFF2-40B4-BE49-F238E27FC236}">
                <a16:creationId xmlns:a16="http://schemas.microsoft.com/office/drawing/2014/main" id="{FA67A7CC-C719-A531-B13F-DF594FFBE4F9}"/>
              </a:ext>
            </a:extLst>
          </p:cNvPr>
          <p:cNvSpPr txBox="1"/>
          <p:nvPr/>
        </p:nvSpPr>
        <p:spPr>
          <a:xfrm>
            <a:off x="583460" y="1478486"/>
            <a:ext cx="8101978"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ja-JP" sz="2400" b="1">
                <a:solidFill>
                  <a:schemeClr val="accent5">
                    <a:lumMod val="75000"/>
                  </a:schemeClr>
                </a:solidFill>
                <a:latin typeface="+mn-ea"/>
                <a:ea typeface="+mn-ea"/>
                <a:cs typeface="Times New Roman"/>
              </a:rPr>
              <a:t>3.3 </a:t>
            </a:r>
            <a:r>
              <a:rPr lang="ja-JP" altLang="en-US" sz="2400" b="1">
                <a:solidFill>
                  <a:schemeClr val="accent5">
                    <a:lumMod val="75000"/>
                  </a:schemeClr>
                </a:solidFill>
                <a:latin typeface="+mn-ea"/>
                <a:ea typeface="+mn-ea"/>
                <a:cs typeface="Times New Roman"/>
              </a:rPr>
              <a:t>ルートの算出</a:t>
            </a:r>
            <a:endParaRPr lang="en-US" altLang="ja-JP" sz="2400" b="1">
              <a:solidFill>
                <a:schemeClr val="accent5">
                  <a:lumMod val="75000"/>
                </a:schemeClr>
              </a:solidFill>
              <a:latin typeface="+mn-ea"/>
              <a:ea typeface="+mn-ea"/>
              <a:cs typeface="Times New Roman"/>
            </a:endParaRPr>
          </a:p>
          <a:p>
            <a:endParaRPr lang="en-US" altLang="ja-JP" sz="1600">
              <a:latin typeface="Times New Roman"/>
              <a:ea typeface="ＭＳ Ｐゴシック"/>
              <a:cs typeface="Times New Roman"/>
            </a:endParaRPr>
          </a:p>
          <a:p>
            <a:r>
              <a:rPr lang="ja-JP" sz="1200">
                <a:latin typeface="+mn-ea"/>
                <a:ea typeface="+mn-ea"/>
                <a:cs typeface="Times New Roman"/>
              </a:rPr>
              <a:t>経路探索にはダイクストラ法を用いた。走行体は旋回に時間がかかるため、経路の評価</a:t>
            </a:r>
            <a:r>
              <a:rPr lang="ja-JP" altLang="en-US" sz="1200">
                <a:latin typeface="+mn-ea"/>
                <a:ea typeface="+mn-ea"/>
                <a:cs typeface="Times New Roman"/>
              </a:rPr>
              <a:t>基準</a:t>
            </a:r>
            <a:r>
              <a:rPr lang="ja-JP" sz="1200">
                <a:latin typeface="+mn-ea"/>
                <a:ea typeface="+mn-ea"/>
                <a:cs typeface="Times New Roman"/>
              </a:rPr>
              <a:t>では旋回回数を最も優先し、旋回回数が同じ場合は移動ステップ数が少ない経路を選択するようにした。</a:t>
            </a:r>
          </a:p>
          <a:p>
            <a:r>
              <a:rPr lang="ja-JP" sz="1200">
                <a:latin typeface="+mn-ea"/>
                <a:ea typeface="+mn-ea"/>
                <a:cs typeface="Times New Roman"/>
              </a:rPr>
              <a:t>また、走行体の状態は「現在位置」と「現在の向き」の組み合わせとして扱った。同じ位置に到着した場合でも、向きによって次の移動で旋回が必要になるかどうかが変わるため、位置と向きが異なる場合は別の状態として管理している。探索には優先度付きキューを使用し、旋回回数が少ない状態を優先し、同じ場合は移動ステップ数が少ない状態を優先することで、走行体の特性を考慮した経路を探索できるようにした。</a:t>
            </a:r>
          </a:p>
        </p:txBody>
      </p:sp>
      <p:sp>
        <p:nvSpPr>
          <p:cNvPr id="11" name="四角形: 角を丸くする 10">
            <a:extLst>
              <a:ext uri="{FF2B5EF4-FFF2-40B4-BE49-F238E27FC236}">
                <a16:creationId xmlns:a16="http://schemas.microsoft.com/office/drawing/2014/main" id="{E70F74F5-D25E-CF96-1819-4E33CAB92AC7}"/>
              </a:ext>
            </a:extLst>
          </p:cNvPr>
          <p:cNvSpPr/>
          <p:nvPr/>
        </p:nvSpPr>
        <p:spPr>
          <a:xfrm>
            <a:off x="79396" y="185666"/>
            <a:ext cx="2592288" cy="949677"/>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機能モデル</a:t>
            </a:r>
          </a:p>
        </p:txBody>
      </p:sp>
      <p:sp>
        <p:nvSpPr>
          <p:cNvPr id="13" name="四角形: 角を丸くする 12">
            <a:extLst>
              <a:ext uri="{FF2B5EF4-FFF2-40B4-BE49-F238E27FC236}">
                <a16:creationId xmlns:a16="http://schemas.microsoft.com/office/drawing/2014/main" id="{BD0A1FE0-8931-4EFD-8560-287490FE2EB4}"/>
              </a:ext>
            </a:extLst>
          </p:cNvPr>
          <p:cNvSpPr/>
          <p:nvPr/>
        </p:nvSpPr>
        <p:spPr>
          <a:xfrm>
            <a:off x="2663131" y="201528"/>
            <a:ext cx="2592288" cy="94967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構造モデル</a:t>
            </a:r>
          </a:p>
        </p:txBody>
      </p:sp>
      <p:sp>
        <p:nvSpPr>
          <p:cNvPr id="15" name="四角形: 角を丸くする 14">
            <a:extLst>
              <a:ext uri="{FF2B5EF4-FFF2-40B4-BE49-F238E27FC236}">
                <a16:creationId xmlns:a16="http://schemas.microsoft.com/office/drawing/2014/main" id="{C7EC4E8D-7F31-8DF7-87B8-7BCD03715D6E}"/>
              </a:ext>
            </a:extLst>
          </p:cNvPr>
          <p:cNvSpPr/>
          <p:nvPr/>
        </p:nvSpPr>
        <p:spPr>
          <a:xfrm>
            <a:off x="5255419" y="205537"/>
            <a:ext cx="2592288" cy="949677"/>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t>振る舞いモデル</a:t>
            </a:r>
            <a:r>
              <a:rPr kumimoji="1" lang="en-US" altLang="ja-JP" sz="2400"/>
              <a:t>1</a:t>
            </a:r>
            <a:endParaRPr kumimoji="1" lang="ja-JP" altLang="en-US" sz="2400"/>
          </a:p>
        </p:txBody>
      </p:sp>
      <p:sp>
        <p:nvSpPr>
          <p:cNvPr id="17" name="四角形: 角を丸くする 16">
            <a:extLst>
              <a:ext uri="{FF2B5EF4-FFF2-40B4-BE49-F238E27FC236}">
                <a16:creationId xmlns:a16="http://schemas.microsoft.com/office/drawing/2014/main" id="{3EA73F61-F059-B7ED-9C0F-085F06111D7E}"/>
              </a:ext>
            </a:extLst>
          </p:cNvPr>
          <p:cNvSpPr/>
          <p:nvPr/>
        </p:nvSpPr>
        <p:spPr>
          <a:xfrm>
            <a:off x="7839154" y="201529"/>
            <a:ext cx="2592288" cy="949677"/>
          </a:xfrm>
          <a:prstGeom prst="roundRect">
            <a:avLst/>
          </a:prstGeom>
          <a:solidFill>
            <a:schemeClr val="accent5">
              <a:lumMod val="60000"/>
              <a:lumOff val="4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t>振る舞いモデル</a:t>
            </a:r>
            <a:r>
              <a:rPr lang="en-US" altLang="ja-JP" sz="2400"/>
              <a:t>2</a:t>
            </a:r>
            <a:endParaRPr kumimoji="1" lang="ja-JP" altLang="en-US" sz="2400"/>
          </a:p>
        </p:txBody>
      </p:sp>
      <p:pic>
        <p:nvPicPr>
          <p:cNvPr id="19" name="図 18">
            <a:extLst>
              <a:ext uri="{FF2B5EF4-FFF2-40B4-BE49-F238E27FC236}">
                <a16:creationId xmlns:a16="http://schemas.microsoft.com/office/drawing/2014/main" id="{265A86D9-ABB4-9E0C-F62C-BBD4881A9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5123" y="76315"/>
            <a:ext cx="4731647" cy="1050698"/>
          </a:xfrm>
          <a:prstGeom prst="rect">
            <a:avLst/>
          </a:prstGeom>
        </p:spPr>
      </p:pic>
      <p:sp>
        <p:nvSpPr>
          <p:cNvPr id="21" name="正方形/長方形 20">
            <a:extLst>
              <a:ext uri="{FF2B5EF4-FFF2-40B4-BE49-F238E27FC236}">
                <a16:creationId xmlns:a16="http://schemas.microsoft.com/office/drawing/2014/main" id="{42990C57-568A-CA5A-000C-775CE38DB9CE}"/>
              </a:ext>
            </a:extLst>
          </p:cNvPr>
          <p:cNvSpPr/>
          <p:nvPr/>
        </p:nvSpPr>
        <p:spPr>
          <a:xfrm>
            <a:off x="-433213" y="1017662"/>
            <a:ext cx="17569952" cy="29880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グラフィックス 9">
            <a:extLst>
              <a:ext uri="{FF2B5EF4-FFF2-40B4-BE49-F238E27FC236}">
                <a16:creationId xmlns:a16="http://schemas.microsoft.com/office/drawing/2014/main" id="{1DD3DB62-9FB6-B331-9A7A-5DD4C0CC0B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5540" y="3294368"/>
            <a:ext cx="5904656" cy="6796272"/>
          </a:xfrm>
          <a:prstGeom prst="rect">
            <a:avLst/>
          </a:prstGeom>
        </p:spPr>
      </p:pic>
      <p:sp>
        <p:nvSpPr>
          <p:cNvPr id="14" name="テキスト ボックス 13">
            <a:extLst>
              <a:ext uri="{FF2B5EF4-FFF2-40B4-BE49-F238E27FC236}">
                <a16:creationId xmlns:a16="http://schemas.microsoft.com/office/drawing/2014/main" id="{498A64AF-9082-D39F-27F2-C811A28F1403}"/>
              </a:ext>
            </a:extLst>
          </p:cNvPr>
          <p:cNvSpPr txBox="1"/>
          <p:nvPr/>
        </p:nvSpPr>
        <p:spPr>
          <a:xfrm>
            <a:off x="2258196" y="10052549"/>
            <a:ext cx="3921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800">
                <a:latin typeface="+mn-ea"/>
                <a:ea typeface="+mn-ea"/>
                <a:cs typeface="Times New Roman"/>
              </a:rPr>
              <a:t>↑ 図3.4　ルート算出とゲート通過</a:t>
            </a:r>
          </a:p>
        </p:txBody>
      </p:sp>
      <p:sp>
        <p:nvSpPr>
          <p:cNvPr id="2" name="テキスト ボックス 1">
            <a:extLst>
              <a:ext uri="{FF2B5EF4-FFF2-40B4-BE49-F238E27FC236}">
                <a16:creationId xmlns:a16="http://schemas.microsoft.com/office/drawing/2014/main" id="{F4B8AF4B-895C-AF0C-42DF-4060EB812EC6}"/>
              </a:ext>
            </a:extLst>
          </p:cNvPr>
          <p:cNvSpPr txBox="1"/>
          <p:nvPr/>
        </p:nvSpPr>
        <p:spPr>
          <a:xfrm>
            <a:off x="11088067" y="10052549"/>
            <a:ext cx="29851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800">
                <a:latin typeface="+mn-ea"/>
                <a:ea typeface="+mn-ea"/>
                <a:cs typeface="Times New Roman"/>
              </a:rPr>
              <a:t>↑ 図3.5　終了フェーズ</a:t>
            </a:r>
          </a:p>
        </p:txBody>
      </p:sp>
    </p:spTree>
    <p:extLst>
      <p:ext uri="{BB962C8B-B14F-4D97-AF65-F5344CB8AC3E}">
        <p14:creationId xmlns:p14="http://schemas.microsoft.com/office/powerpoint/2010/main" val="630905807"/>
      </p:ext>
    </p:extLst>
  </p:cSld>
  <p:clrMapOvr>
    <a:masterClrMapping/>
  </p:clrMapOvr>
</p:sld>
</file>

<file path=ppt/theme/theme1.xml><?xml version="1.0" encoding="utf-8"?>
<a:theme xmlns:a="http://schemas.openxmlformats.org/drawingml/2006/main" name="アブストラクトページ用（ベーシッククラス）">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デザインの設定">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BAS_080_^LB-RA3BITS(相撲)</Template>
  <TotalTime>0</TotalTime>
  <Words>1911</Words>
  <Application>Microsoft Office PowerPoint</Application>
  <PresentationFormat>ユーザー設定</PresentationFormat>
  <Paragraphs>121</Paragraphs>
  <Slides>5</Slides>
  <Notes>3</Notes>
  <HiddenSlides>0</HiddenSlides>
  <MMClips>0</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5</vt:i4>
      </vt:variant>
    </vt:vector>
  </HeadingPairs>
  <TitlesOfParts>
    <vt:vector size="18" baseType="lpstr">
      <vt:lpstr>HG丸ｺﾞｼｯｸM-PRO</vt:lpstr>
      <vt:lpstr>Meiryo UI</vt:lpstr>
      <vt:lpstr>ＭＳ Ｐゴシック</vt:lpstr>
      <vt:lpstr>ＭＳ ゴシック</vt:lpstr>
      <vt:lpstr>游ゴシック</vt:lpstr>
      <vt:lpstr>游ゴシック Light</vt:lpstr>
      <vt:lpstr>Arial</vt:lpstr>
      <vt:lpstr>Calibri</vt:lpstr>
      <vt:lpstr>Calibri Light</vt:lpstr>
      <vt:lpstr>Times New Roman</vt:lpstr>
      <vt:lpstr>アブストラクトページ用（ベーシッククラス）</vt:lpstr>
      <vt:lpstr>デザインの設定</vt:lpstr>
      <vt:lpstr>1_デザインの設定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ETロボコン実行委員会</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楓 安孫子</dc:creator>
  <cp:lastModifiedBy>akahane hiroto</cp:lastModifiedBy>
  <cp:revision>5</cp:revision>
  <cp:lastPrinted>2018-04-01T05:10:42Z</cp:lastPrinted>
  <dcterms:created xsi:type="dcterms:W3CDTF">2026-08-13T05:16:28Z</dcterms:created>
  <dcterms:modified xsi:type="dcterms:W3CDTF">2026-08-25T07:05:34Z</dcterms:modified>
  <cp:contentStatus/>
</cp:coreProperties>
</file>